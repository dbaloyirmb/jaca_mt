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12">
          <p15:clr>
            <a:srgbClr val="A4A3A4"/>
          </p15:clr>
        </p15:guide>
        <p15:guide id="2" pos="16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12" orient="horz"/>
        <p:guide pos="16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75" spcFirstLastPara="1" rIns="91275" wrap="square" tIns="456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625" lIns="91275" spcFirstLastPara="1" rIns="9127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:notes"/>
          <p:cNvSpPr txBox="1"/>
          <p:nvPr>
            <p:ph idx="1" type="body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2:notes"/>
          <p:cNvSpPr/>
          <p:nvPr>
            <p:ph idx="2" type="sldImg"/>
          </p:nvPr>
        </p:nvSpPr>
        <p:spPr>
          <a:xfrm>
            <a:off x="917575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7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8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0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0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:notes"/>
          <p:cNvSpPr txBox="1"/>
          <p:nvPr>
            <p:ph idx="1" type="body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1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2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p1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5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4:notes"/>
          <p:cNvSpPr txBox="1"/>
          <p:nvPr>
            <p:ph idx="1" type="body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4" name="Google Shape;794;p14:notes"/>
          <p:cNvSpPr/>
          <p:nvPr>
            <p:ph idx="2" type="sldImg"/>
          </p:nvPr>
        </p:nvSpPr>
        <p:spPr>
          <a:xfrm>
            <a:off x="917575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7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7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6:notes"/>
          <p:cNvSpPr txBox="1"/>
          <p:nvPr>
            <p:ph idx="1" type="body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3" name="Google Shape;833;p16:notes"/>
          <p:cNvSpPr/>
          <p:nvPr>
            <p:ph idx="2" type="sldImg"/>
          </p:nvPr>
        </p:nvSpPr>
        <p:spPr>
          <a:xfrm>
            <a:off x="917575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9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9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8:notes"/>
          <p:cNvSpPr txBox="1"/>
          <p:nvPr>
            <p:ph idx="1" type="body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6" name="Google Shape;876;p18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1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0:notes"/>
          <p:cNvSpPr txBox="1"/>
          <p:nvPr>
            <p:ph idx="1" type="body"/>
          </p:nvPr>
        </p:nvSpPr>
        <p:spPr>
          <a:xfrm>
            <a:off x="679768" y="4715153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3" name="Google Shape;913;p20:notes"/>
          <p:cNvSpPr/>
          <p:nvPr>
            <p:ph idx="2" type="sldImg"/>
          </p:nvPr>
        </p:nvSpPr>
        <p:spPr>
          <a:xfrm>
            <a:off x="917575" y="744538"/>
            <a:ext cx="4962600" cy="37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3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22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8" name="Google Shape;968;p22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4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24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25:notes"/>
          <p:cNvSpPr txBox="1"/>
          <p:nvPr>
            <p:ph idx="1" type="body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275" spcFirstLastPara="1" rIns="91275" wrap="square" tIns="45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6" name="Google Shape;1026;p25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007180" y="1412384"/>
            <a:ext cx="8013659" cy="51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0" y="653891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514163" y="653321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46459" y="6546663"/>
            <a:ext cx="4550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987136" y="3534063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87136" y="1701006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007180" y="914758"/>
            <a:ext cx="80136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007179" y="1600199"/>
            <a:ext cx="3834985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5098069" y="1600199"/>
            <a:ext cx="392277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1007180" y="924790"/>
            <a:ext cx="80136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1007179" y="1724891"/>
            <a:ext cx="3866157" cy="449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1007179" y="2174875"/>
            <a:ext cx="386615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5029200" y="1724889"/>
            <a:ext cx="3983124" cy="4499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5029200" y="2174875"/>
            <a:ext cx="398312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1007180" y="925149"/>
            <a:ext cx="80136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966355" y="1435100"/>
            <a:ext cx="36991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sz="2000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748649" y="1435100"/>
            <a:ext cx="426026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966355" y="1800226"/>
            <a:ext cx="3699162" cy="4325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9"/>
          <p:cNvSpPr txBox="1"/>
          <p:nvPr/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987135" y="4800600"/>
            <a:ext cx="803217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987135" y="1350817"/>
            <a:ext cx="8032173" cy="337675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987135" y="5367338"/>
            <a:ext cx="8032173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0"/>
          <p:cNvSpPr txBox="1"/>
          <p:nvPr/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1007180" y="924791"/>
            <a:ext cx="8013659" cy="33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2386318" y="33246"/>
            <a:ext cx="5255382" cy="8013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5301601" y="2740963"/>
            <a:ext cx="4712999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365177" y="1014341"/>
            <a:ext cx="4712999" cy="5510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2"/>
          <p:cNvSpPr txBox="1"/>
          <p:nvPr/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2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07180" y="955964"/>
            <a:ext cx="8013659" cy="303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b="1" i="0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07180" y="1412384"/>
            <a:ext cx="8013659" cy="5255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12693" y="1100000"/>
            <a:ext cx="77724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 eGov Skills Audit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Executive Close-Out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12693" y="2380000"/>
            <a:ext cx="77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Yima Yimeka Project Team  |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12693" y="3460000"/>
            <a:ext cx="7772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CONFIDENTIAL — For Executive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74320" y="749808"/>
            <a:ext cx="868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 the Team — Yima Yimeka Proje</a:t>
            </a:r>
            <a:r>
              <a:rPr b="1" lang="en-US" sz="2200">
                <a:solidFill>
                  <a:srgbClr val="FFFFFF"/>
                </a:solidFill>
              </a:rPr>
              <a:t>ct Team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Skills Audit Engagement | GP eGov Department of e-Government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>
                <a:solidFill>
                  <a:srgbClr val="CADCFC"/>
                </a:solidFill>
              </a:rPr>
              <a:t>July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301752" y="1645920"/>
            <a:ext cx="8540496" cy="2743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384048" y="1664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LEADERSHIP &amp; DELIVERY TEAM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306324" y="1975104"/>
            <a:ext cx="2743200" cy="4297680"/>
          </a:xfrm>
          <a:prstGeom prst="rect">
            <a:avLst/>
          </a:prstGeom>
          <a:solidFill>
            <a:srgbClr val="D6E4F4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243584" y="2139696"/>
            <a:ext cx="868680" cy="868680"/>
          </a:xfrm>
          <a:prstGeom prst="ellipse">
            <a:avLst/>
          </a:prstGeom>
          <a:solidFill>
            <a:srgbClr val="1E3A6E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1243584" y="2322576"/>
            <a:ext cx="8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DB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79476" y="3081528"/>
            <a:ext cx="259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>
                <a:solidFill>
                  <a:srgbClr val="1E3A6E"/>
                </a:solidFill>
              </a:rPr>
              <a:t>Donald Baloyi 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79476" y="3392424"/>
            <a:ext cx="2596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44444"/>
                </a:solidFill>
              </a:rPr>
              <a:t>Engineer </a:t>
            </a:r>
            <a:r>
              <a:rPr b="1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&amp; Enterprise Architect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379476" y="3758184"/>
            <a:ext cx="2596896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61772" y="3803904"/>
            <a:ext cx="24688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QUALIFICATIONS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16052" y="4032504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B</a:t>
            </a:r>
            <a:r>
              <a:rPr lang="en-US" sz="850">
                <a:solidFill>
                  <a:srgbClr val="444444"/>
                </a:solidFill>
              </a:rPr>
              <a:t>SC</a:t>
            </a: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(Hons) – Electrical Engineering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16052" y="4251960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Bsc (Masters)</a:t>
            </a: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– Elect</a:t>
            </a:r>
            <a:r>
              <a:rPr lang="en-US" sz="850">
                <a:solidFill>
                  <a:srgbClr val="444444"/>
                </a:solidFill>
              </a:rPr>
              <a:t>rical </a:t>
            </a:r>
            <a:r>
              <a:rPr lang="en-US" sz="850">
                <a:solidFill>
                  <a:srgbClr val="444444"/>
                </a:solidFill>
              </a:rPr>
              <a:t>Engineering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379476" y="4507992"/>
            <a:ext cx="2596896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61772" y="4553712"/>
            <a:ext cx="24688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EXPERIENCE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416052" y="4782312"/>
            <a:ext cx="254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50">
                <a:solidFill>
                  <a:srgbClr val="444444"/>
                </a:solidFill>
              </a:rPr>
              <a:t>20</a:t>
            </a:r>
            <a:r>
              <a:rPr b="0" i="0" lang="en-US" sz="9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yrs enterprise architecture &amp; digital transformation</a:t>
            </a:r>
            <a:endParaRPr sz="1500"/>
          </a:p>
        </p:txBody>
      </p:sp>
      <p:sp>
        <p:nvSpPr>
          <p:cNvPr id="119" name="Google Shape;119;p14"/>
          <p:cNvSpPr txBox="1"/>
          <p:nvPr/>
        </p:nvSpPr>
        <p:spPr>
          <a:xfrm>
            <a:off x="416052" y="5100828"/>
            <a:ext cx="2541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Cross industry experience in Telecommunications, Digital Media,</a:t>
            </a:r>
            <a:endParaRPr sz="850">
              <a:solidFill>
                <a:srgbClr val="4444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44444"/>
                </a:solidFill>
              </a:rPr>
              <a:t>Private Health Insurance, Airlines and Banking Sector.</a:t>
            </a:r>
            <a:endParaRPr sz="850">
              <a:solidFill>
                <a:srgbClr val="44444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444444"/>
              </a:solidFill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339852" y="5650987"/>
            <a:ext cx="2541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50">
                <a:solidFill>
                  <a:srgbClr val="444444"/>
                </a:solidFill>
              </a:rPr>
              <a:t> Deep passion in AI innovation,</a:t>
            </a:r>
            <a:endParaRPr sz="950">
              <a:solidFill>
                <a:srgbClr val="4444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444444"/>
                </a:solidFill>
              </a:rPr>
              <a:t>AI platform driven integration </a:t>
            </a:r>
            <a:endParaRPr sz="950">
              <a:solidFill>
                <a:srgbClr val="44444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444444"/>
              </a:solidFill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379476" y="6016752"/>
            <a:ext cx="2596896" cy="20116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397775" y="5988449"/>
            <a:ext cx="2560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 |  Strategy  |  Governance</a:t>
            </a:r>
            <a:endParaRPr sz="1500"/>
          </a:p>
        </p:txBody>
      </p:sp>
      <p:sp>
        <p:nvSpPr>
          <p:cNvPr id="123" name="Google Shape;123;p14"/>
          <p:cNvSpPr/>
          <p:nvPr/>
        </p:nvSpPr>
        <p:spPr>
          <a:xfrm>
            <a:off x="3200400" y="1975104"/>
            <a:ext cx="2743200" cy="4297680"/>
          </a:xfrm>
          <a:prstGeom prst="rect">
            <a:avLst/>
          </a:prstGeom>
          <a:solidFill>
            <a:srgbClr val="E0F2F4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137660" y="2139696"/>
            <a:ext cx="868680" cy="868680"/>
          </a:xfrm>
          <a:prstGeom prst="ellipse">
            <a:avLst/>
          </a:prstGeom>
          <a:solidFill>
            <a:srgbClr val="0D7A8A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137660" y="2322576"/>
            <a:ext cx="8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PH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273552" y="3081528"/>
            <a:ext cx="259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Penny </a:t>
            </a:r>
            <a:r>
              <a:rPr b="1" i="1" lang="en-US">
                <a:solidFill>
                  <a:srgbClr val="0D7A8A"/>
                </a:solidFill>
              </a:rPr>
              <a:t>Hlubi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3273552" y="3392424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Lead HR Specialist &amp; Competency Analyst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3273552" y="3758184"/>
            <a:ext cx="2596896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3355848" y="3803904"/>
            <a:ext cx="24688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QUALIFICATIONS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3310128" y="4032504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 Bachelor of Social Science degree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3310128" y="4229100"/>
            <a:ext cx="25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</a:t>
            </a:r>
            <a:r>
              <a:rPr lang="en-US" sz="850">
                <a:solidFill>
                  <a:srgbClr val="444444"/>
                </a:solidFill>
              </a:rPr>
              <a:t>Honours degree in Industrial Psychology</a:t>
            </a:r>
            <a:endParaRPr sz="850">
              <a:solidFill>
                <a:srgbClr val="44444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444444"/>
              </a:solidFill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3273552" y="4507992"/>
            <a:ext cx="2596896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3355848" y="4553712"/>
            <a:ext cx="24688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EXPERIENCE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3310128" y="4789932"/>
            <a:ext cx="25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20</a:t>
            </a: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yrs workforce planning &amp; skills gap analysis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3310128" y="5093208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</a:t>
            </a:r>
            <a:r>
              <a:rPr lang="en-US" sz="850">
                <a:solidFill>
                  <a:srgbClr val="444444"/>
                </a:solidFill>
              </a:rPr>
              <a:t>SABPP-registered.</a:t>
            </a:r>
            <a:endParaRPr sz="850">
              <a:solidFill>
                <a:srgbClr val="444444"/>
              </a:solidFill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3264408" y="5251704"/>
            <a:ext cx="25419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Diverse industry exposure spans automotive and rail manufacturing, banking, mining, </a:t>
            </a:r>
            <a:endParaRPr sz="850">
              <a:solidFill>
                <a:srgbClr val="4444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444444"/>
                </a:solidFill>
              </a:rPr>
              <a:t>and renewable energy, equipping her with a well-rounded and globally informed perspective on workforce transformation.</a:t>
            </a:r>
            <a:endParaRPr sz="850">
              <a:solidFill>
                <a:srgbClr val="4444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rgbClr val="44444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444444"/>
              </a:solidFill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3273552" y="6016752"/>
            <a:ext cx="2596896" cy="2011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3291840" y="6030684"/>
            <a:ext cx="2560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HR Analytics  |  Competency  |  PERSAL</a:t>
            </a:r>
            <a:endParaRPr sz="1500"/>
          </a:p>
        </p:txBody>
      </p:sp>
      <p:sp>
        <p:nvSpPr>
          <p:cNvPr id="139" name="Google Shape;139;p14"/>
          <p:cNvSpPr/>
          <p:nvPr/>
        </p:nvSpPr>
        <p:spPr>
          <a:xfrm>
            <a:off x="6094476" y="1975104"/>
            <a:ext cx="2743200" cy="429768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7031736" y="2139696"/>
            <a:ext cx="868680" cy="868680"/>
          </a:xfrm>
          <a:prstGeom prst="ellipse">
            <a:avLst/>
          </a:prstGeom>
          <a:solidFill>
            <a:srgbClr val="4A6FAB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7031736" y="2322576"/>
            <a:ext cx="8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</a:rPr>
              <a:t>MM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167628" y="3081528"/>
            <a:ext cx="259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Matimu Mabunda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6167628" y="3392424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Project Manager &amp; Delivery Lead</a:t>
            </a:r>
            <a:endParaRPr/>
          </a:p>
        </p:txBody>
      </p:sp>
      <p:sp>
        <p:nvSpPr>
          <p:cNvPr id="144" name="Google Shape;144;p14"/>
          <p:cNvSpPr/>
          <p:nvPr/>
        </p:nvSpPr>
        <p:spPr>
          <a:xfrm>
            <a:off x="6167628" y="3758184"/>
            <a:ext cx="2596896" cy="256032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249924" y="3803904"/>
            <a:ext cx="24688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QUALIFICATIONS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6204204" y="4032504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Diploma In Marketing.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6204204" y="4251960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850">
                <a:solidFill>
                  <a:srgbClr val="444444"/>
                </a:solidFill>
              </a:rPr>
              <a:t>Certificate in Retail Buying.</a:t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>
            <a:off x="6167628" y="4507992"/>
            <a:ext cx="2596896" cy="256032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249924" y="4553712"/>
            <a:ext cx="24688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EXPERIENCE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6204204" y="4782312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10+ yrs programme management in public sector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6204204" y="5093208"/>
            <a:ext cx="25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Agile &amp; PRINCE2 hybrid delivery methodology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173724" y="5426964"/>
            <a:ext cx="254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Risk, quality &amp; stakeholder management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6204204" y="5646420"/>
            <a:ext cx="254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Government procurement &amp; compliance experience</a:t>
            </a:r>
            <a:endParaRPr/>
          </a:p>
        </p:txBody>
      </p:sp>
      <p:sp>
        <p:nvSpPr>
          <p:cNvPr id="154" name="Google Shape;154;p14"/>
          <p:cNvSpPr/>
          <p:nvPr/>
        </p:nvSpPr>
        <p:spPr>
          <a:xfrm>
            <a:off x="6167628" y="6016752"/>
            <a:ext cx="2596896" cy="201168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6185916" y="6044184"/>
            <a:ext cx="2560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Mgmt  |  Agile  |  Compliance</a:t>
            </a:r>
            <a:endParaRPr sz="1500"/>
          </a:p>
        </p:txBody>
      </p:sp>
      <p:sp>
        <p:nvSpPr>
          <p:cNvPr id="156" name="Google Shape;156;p14"/>
          <p:cNvSpPr txBox="1"/>
          <p:nvPr/>
        </p:nvSpPr>
        <p:spPr>
          <a:xfrm>
            <a:off x="301752" y="6283224"/>
            <a:ext cx="854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Yima Yimeka (Pty) Ltd  |  BBBEE Level 1 Technology Partner  |  Registered with CIPC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 the Team — Technical Specialists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AI Development &amp; Product Engineering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lang="en-US" sz="950">
                <a:solidFill>
                  <a:srgbClr val="CADCFC"/>
                </a:solidFill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301752" y="1645920"/>
            <a:ext cx="8540496" cy="2743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384048" y="1664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PRODUCT &amp; DEVELOPMENT TEAM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306324" y="1975104"/>
            <a:ext cx="4151376" cy="4297680"/>
          </a:xfrm>
          <a:prstGeom prst="rect">
            <a:avLst/>
          </a:prstGeom>
          <a:solidFill>
            <a:srgbClr val="E0F2F4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1879092" y="2139696"/>
            <a:ext cx="1005840" cy="1005840"/>
          </a:xfrm>
          <a:prstGeom prst="ellipse">
            <a:avLst/>
          </a:prstGeom>
          <a:solidFill>
            <a:srgbClr val="0D7A8A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879092" y="2377440"/>
            <a:ext cx="10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NS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397764" y="3236976"/>
            <a:ext cx="396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Neo Scheepers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397764" y="3566160"/>
            <a:ext cx="396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AI Product Owner 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397764" y="3950208"/>
            <a:ext cx="3968496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80060" y="399592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QUALIFICATIONS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34340" y="4224528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Bc</a:t>
            </a:r>
            <a:r>
              <a:rPr lang="en-US" sz="900">
                <a:solidFill>
                  <a:srgbClr val="444444"/>
                </a:solidFill>
              </a:rPr>
              <a:t>om </a:t>
            </a:r>
            <a:r>
              <a:rPr lang="en-US" sz="900">
                <a:solidFill>
                  <a:srgbClr val="444444"/>
                </a:solidFill>
              </a:rPr>
              <a:t>Management</a:t>
            </a:r>
            <a:r>
              <a:rPr lang="en-US" sz="900">
                <a:solidFill>
                  <a:srgbClr val="444444"/>
                </a:solidFill>
              </a:rPr>
              <a:t> Studies 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434340" y="4443984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00">
                <a:solidFill>
                  <a:srgbClr val="444444"/>
                </a:solidFill>
              </a:rPr>
              <a:t>Anthropic Artificial Intelligence (AI) </a:t>
            </a: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(in progress)</a:t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397764" y="4928616"/>
            <a:ext cx="3968496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80060" y="497433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EXPERIENCE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396220" y="5778421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00">
                <a:solidFill>
                  <a:srgbClr val="444444"/>
                </a:solidFill>
              </a:rPr>
              <a:t>2</a:t>
            </a: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yrs AI/ML product development &amp; deployment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384040" y="5592630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Architect: VeriSkill-AI &amp; Lucentra-AI platforms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414530" y="5199846"/>
            <a:ext cx="389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00">
                <a:solidFill>
                  <a:srgbClr val="444444"/>
                </a:solidFill>
              </a:rPr>
              <a:t>Versatile professional with over 2 decades of experiences in Strategic Transport, Logistics and Energy sector.</a:t>
            </a:r>
            <a:endParaRPr sz="900">
              <a:solidFill>
                <a:srgbClr val="4444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44444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444444"/>
              </a:solidFill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434340" y="6080760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Skills taxonomy design aligned to DPSA DCDF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397764" y="6016752"/>
            <a:ext cx="3968496" cy="2011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416052" y="6044184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AI/ML  |  Product Architecture  |  NLP</a:t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4658868" y="1975104"/>
            <a:ext cx="4151376" cy="4297680"/>
          </a:xfrm>
          <a:prstGeom prst="rect">
            <a:avLst/>
          </a:prstGeom>
          <a:solidFill>
            <a:srgbClr val="D6E4F4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231636" y="2139696"/>
            <a:ext cx="1005840" cy="1005840"/>
          </a:xfrm>
          <a:prstGeom prst="ellipse">
            <a:avLst/>
          </a:prstGeom>
          <a:solidFill>
            <a:srgbClr val="1E3A6E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231636" y="2377440"/>
            <a:ext cx="10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GM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4750307" y="3236976"/>
            <a:ext cx="396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Glen Mal</a:t>
            </a:r>
            <a:r>
              <a:rPr b="1" i="1" lang="en-US">
                <a:solidFill>
                  <a:srgbClr val="1E3A6E"/>
                </a:solidFill>
              </a:rPr>
              <a:t>uleke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4750307" y="3566160"/>
            <a:ext cx="3968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AI Developer &amp; Support 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4750307" y="3950208"/>
            <a:ext cx="3968496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4832603" y="399592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QUALIFICATIONS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4786883" y="4224528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A</a:t>
            </a:r>
            <a:r>
              <a:rPr lang="en-US" sz="900">
                <a:solidFill>
                  <a:srgbClr val="444444"/>
                </a:solidFill>
              </a:rPr>
              <a:t>nthropic Artificial Intelligence (AI) Certification (In Progress)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4786883" y="4443984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00">
                <a:solidFill>
                  <a:srgbClr val="444444"/>
                </a:solidFill>
              </a:rPr>
              <a:t>Oracle Certified </a:t>
            </a:r>
            <a:r>
              <a:rPr lang="en-US" sz="900">
                <a:solidFill>
                  <a:srgbClr val="444444"/>
                </a:solidFill>
              </a:rPr>
              <a:t>Associate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4786883" y="4663440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4750307" y="4928616"/>
            <a:ext cx="3968496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4832603" y="497433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EXPERIENCE</a:t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4786883" y="5202936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</a:t>
            </a:r>
            <a:r>
              <a:rPr lang="en-US" sz="900">
                <a:solidFill>
                  <a:srgbClr val="444444"/>
                </a:solidFill>
              </a:rPr>
              <a:t>2</a:t>
            </a: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yrs full-stack dev &amp; data engineering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4786883" y="5422392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Built Veristock SaaS (solar field ops automation)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4786883" y="5641848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Database design: SQLAlchemy, PostgreSQL, SQLite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4786883" y="5830824"/>
            <a:ext cx="389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Streamlit UI, REST APIs, ETL pipeline development</a:t>
            </a:r>
            <a:endParaRPr/>
          </a:p>
        </p:txBody>
      </p:sp>
      <p:sp>
        <p:nvSpPr>
          <p:cNvPr id="204" name="Google Shape;204;p15"/>
          <p:cNvSpPr txBox="1"/>
          <p:nvPr/>
        </p:nvSpPr>
        <p:spPr>
          <a:xfrm>
            <a:off x="4786883" y="6080760"/>
            <a:ext cx="38953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Data anonymisation &amp; POPIA-compliant processing</a:t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4750307" y="6016752"/>
            <a:ext cx="3968496" cy="20116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4768596" y="6044184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 |  Data Engineering  |  SaaS Dev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301752" y="6310884"/>
            <a:ext cx="854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Yima Yimeka (Pty) Ltd  |  AI &amp; Digital Transformation Practice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Proven Track Record — Skills &amp; Workforce Intelligence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AI-Powered Human Capital Solutions</a:t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50">
                <a:solidFill>
                  <a:srgbClr val="CADCFC"/>
                </a:solidFill>
              </a:rPr>
              <a:t>July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301752" y="1645920"/>
            <a:ext cx="8540496" cy="2743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384048" y="1664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 PORTFOLIO: SKILLS AUDIT &amp; FUTURE WORKFORCE ANALYTICS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306324" y="1975104"/>
            <a:ext cx="4151376" cy="4407408"/>
          </a:xfrm>
          <a:prstGeom prst="rect">
            <a:avLst/>
          </a:prstGeom>
          <a:solidFill>
            <a:srgbClr val="E0F2F4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306324" y="1975104"/>
            <a:ext cx="4151376" cy="4572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397764" y="2011680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Sci-Sonke Skills Audit Platform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97764" y="2276856"/>
            <a:ext cx="3968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National Education Sector | 2023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397764" y="2479548"/>
            <a:ext cx="396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397764" y="2633472"/>
            <a:ext cx="1261872" cy="292608"/>
          </a:xfrm>
          <a:prstGeom prst="rect">
            <a:avLst/>
          </a:prstGeom>
          <a:solidFill>
            <a:srgbClr val="0D7A8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25196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Upload CVs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1668780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1751076" y="2633472"/>
            <a:ext cx="1261872" cy="292608"/>
          </a:xfrm>
          <a:prstGeom prst="rect">
            <a:avLst/>
          </a:prstGeom>
          <a:solidFill>
            <a:srgbClr val="0D7A8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1778508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Extract Skills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3022091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3104388" y="2633472"/>
            <a:ext cx="1261872" cy="292608"/>
          </a:xfrm>
          <a:prstGeom prst="rect">
            <a:avLst/>
          </a:prstGeom>
          <a:solidFill>
            <a:srgbClr val="0D7A8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3131820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Gap Report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397764" y="3017520"/>
            <a:ext cx="3968496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480060" y="30632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425196" y="329184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Audited </a:t>
            </a:r>
            <a:r>
              <a:rPr lang="en-US" sz="900">
                <a:solidFill>
                  <a:srgbClr val="444444"/>
                </a:solidFill>
              </a:rPr>
              <a:t>50</a:t>
            </a: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educator profiles in</a:t>
            </a:r>
            <a:r>
              <a:rPr lang="en-US" sz="900">
                <a:solidFill>
                  <a:srgbClr val="444444"/>
                </a:solidFill>
              </a:rPr>
              <a:t> semi-private school.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425196" y="35204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NLP pipeline: skills extraction from unstructured CVs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425196" y="37490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Competency gap heatmaps aligned to DBE frameworks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397764" y="6071616"/>
            <a:ext cx="3968496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416052" y="6117336"/>
            <a:ext cx="393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FFFFFF"/>
                </a:solidFill>
              </a:rPr>
              <a:t>100</a:t>
            </a: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% stakeholder satisfaction  |  6-week delivery</a:t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416052" y="5833872"/>
            <a:ext cx="1005839" cy="18288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452628" y="5852160"/>
            <a:ext cx="95097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 Audit</a:t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1476756" y="5833872"/>
            <a:ext cx="1280160" cy="18288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1513332" y="5852160"/>
            <a:ext cx="122529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Education Sector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2811780" y="5833872"/>
            <a:ext cx="388620" cy="18288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2848347" y="5852148"/>
            <a:ext cx="525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NLP</a:t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4658868" y="1975104"/>
            <a:ext cx="4151376" cy="4407408"/>
          </a:xfrm>
          <a:prstGeom prst="rect">
            <a:avLst/>
          </a:prstGeom>
          <a:solidFill>
            <a:srgbClr val="D6E4F4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4658868" y="1975104"/>
            <a:ext cx="4151376" cy="4572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4750307" y="2011680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VeriSkill-AI — Workforce Capability Engine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4750307" y="2276856"/>
            <a:ext cx="3968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GP eGov &amp; Multi-Sector | 2025–2026</a:t>
            </a:r>
            <a:endParaRPr/>
          </a:p>
        </p:txBody>
      </p:sp>
      <p:sp>
        <p:nvSpPr>
          <p:cNvPr id="252" name="Google Shape;252;p16"/>
          <p:cNvSpPr txBox="1"/>
          <p:nvPr/>
        </p:nvSpPr>
        <p:spPr>
          <a:xfrm>
            <a:off x="4750307" y="2479548"/>
            <a:ext cx="396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4750307" y="2633472"/>
            <a:ext cx="1261872" cy="292608"/>
          </a:xfrm>
          <a:prstGeom prst="rect">
            <a:avLst/>
          </a:prstGeom>
          <a:solidFill>
            <a:srgbClr val="1E3A6E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4777740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CV Intake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6021323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6103619" y="2633472"/>
            <a:ext cx="1261872" cy="292608"/>
          </a:xfrm>
          <a:prstGeom prst="rect">
            <a:avLst/>
          </a:prstGeom>
          <a:solidFill>
            <a:srgbClr val="1E3A6E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6131051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JD Analysis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7374636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7456931" y="2633472"/>
            <a:ext cx="1261872" cy="292608"/>
          </a:xfrm>
          <a:prstGeom prst="rect">
            <a:avLst/>
          </a:prstGeom>
          <a:solidFill>
            <a:srgbClr val="1E3A6E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7484363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Match Score</a:t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4750307" y="3017520"/>
            <a:ext cx="3968496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4832603" y="30632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4777740" y="329184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AI-powered CV-to-JD semantic matching 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4777740" y="35204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DPSA Capability Framework &amp; DCDF alignment engine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4777740" y="37490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Future skills benchmarking via Gemini/Claude AI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4777740" y="39776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Individual readiness scores: skills, experience, education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4777740" y="42062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POPIA-compliant: PII anonymised before any AI call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4750307" y="6071616"/>
            <a:ext cx="3968496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4768596" y="611733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engagement  |  Local + Gemini + Claude AI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4768596" y="5833872"/>
            <a:ext cx="1005839" cy="18288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4805172" y="5852160"/>
            <a:ext cx="95097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Workforce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5829300" y="5833872"/>
            <a:ext cx="1005839" cy="18288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5865876" y="5852160"/>
            <a:ext cx="95097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DPSA Aligned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6890004" y="5833872"/>
            <a:ext cx="525780" cy="18288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6926580" y="5852160"/>
            <a:ext cx="4709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POPIA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301752" y="6333744"/>
            <a:ext cx="854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All platforms developed by Yima Yimeka (Pty) Ltd  |  South African owned &amp; operated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274320" y="914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22 JUNE 2026</a:t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Proven Track Record — Recruitment &amp; Energy Infrastructure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AI-Powered Human Capital Solutions</a:t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950">
                <a:solidFill>
                  <a:srgbClr val="CADCFC"/>
                </a:solidFill>
              </a:rPr>
              <a:t>uly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301752" y="1645920"/>
            <a:ext cx="8540496" cy="2743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384048" y="1664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 PORTFOLIO: TALENT ACQUISITION &amp; NATIONAL ENERGY INFRASTRUCTURE</a:t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306324" y="1975104"/>
            <a:ext cx="4151376" cy="4407408"/>
          </a:xfrm>
          <a:prstGeom prst="rect">
            <a:avLst/>
          </a:prstGeom>
          <a:solidFill>
            <a:srgbClr val="FDF6E3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306324" y="1975104"/>
            <a:ext cx="4151376" cy="457200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397764" y="2011680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Lucentra-AI — Intelligent Recruitment Engine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397764" y="2276856"/>
            <a:ext cx="3968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Private Sector &amp; ICT Industry | 2024–2025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397764" y="2479548"/>
            <a:ext cx="396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C08A00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397764" y="2633472"/>
            <a:ext cx="1261872" cy="292608"/>
          </a:xfrm>
          <a:prstGeom prst="rect">
            <a:avLst/>
          </a:prstGeom>
          <a:solidFill>
            <a:srgbClr val="C08A00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425196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Job Brief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1668780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1751076" y="2633472"/>
            <a:ext cx="1261872" cy="292608"/>
          </a:xfrm>
          <a:prstGeom prst="rect">
            <a:avLst/>
          </a:prstGeom>
          <a:solidFill>
            <a:srgbClr val="C08A00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1778508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Sourcing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3022091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3104388" y="2633472"/>
            <a:ext cx="1261872" cy="292608"/>
          </a:xfrm>
          <a:prstGeom prst="rect">
            <a:avLst/>
          </a:prstGeom>
          <a:solidFill>
            <a:srgbClr val="C08A00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3131820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Ranked List</a:t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397764" y="3017520"/>
            <a:ext cx="3968496" cy="25603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480060" y="30632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425196" y="32918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4000"/>
                </a:solidFill>
                <a:latin typeface="Arial"/>
                <a:ea typeface="Arial"/>
                <a:cs typeface="Arial"/>
                <a:sym typeface="Arial"/>
              </a:rPr>
              <a:t>  •  AI-driven candidate sourcing &amp; semantic CV ranking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425196" y="35204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4000"/>
                </a:solidFill>
                <a:latin typeface="Arial"/>
                <a:ea typeface="Arial"/>
                <a:cs typeface="Arial"/>
                <a:sym typeface="Arial"/>
              </a:rPr>
              <a:t>  •  Multi-source pipeline: LinkedIn, Pnet, direct uploads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425196" y="37490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4000"/>
                </a:solidFill>
                <a:latin typeface="Arial"/>
                <a:ea typeface="Arial"/>
                <a:cs typeface="Arial"/>
                <a:sym typeface="Arial"/>
              </a:rPr>
              <a:t>  •  Competency-based matching: technical + soft skills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425196" y="39776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4000"/>
                </a:solidFill>
                <a:latin typeface="Arial"/>
                <a:ea typeface="Arial"/>
                <a:cs typeface="Arial"/>
                <a:sym typeface="Arial"/>
              </a:rPr>
              <a:t>  •  Bias-reduced shortlisting with EEAA compliance layer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425196" y="42062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4000"/>
                </a:solidFill>
                <a:latin typeface="Arial"/>
                <a:ea typeface="Arial"/>
                <a:cs typeface="Arial"/>
                <a:sym typeface="Arial"/>
              </a:rPr>
              <a:t>  •  Reduced time-to-hire by 40% for ICT roles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397764" y="6071616"/>
            <a:ext cx="3968496" cy="25603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416052" y="611733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40% faster hiring  |  ICT &amp; digital talent focus</a:t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416052" y="5833872"/>
            <a:ext cx="1143000" cy="182880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452628" y="5852160"/>
            <a:ext cx="10881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Recruitment AI</a:t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1613916" y="5833872"/>
            <a:ext cx="868680" cy="182880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1650492" y="5852160"/>
            <a:ext cx="8138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ICT Sector</a:t>
            </a:r>
            <a:endParaRPr/>
          </a:p>
        </p:txBody>
      </p:sp>
      <p:sp>
        <p:nvSpPr>
          <p:cNvPr id="317" name="Google Shape;317;p17"/>
          <p:cNvSpPr/>
          <p:nvPr/>
        </p:nvSpPr>
        <p:spPr>
          <a:xfrm>
            <a:off x="4658868" y="1975104"/>
            <a:ext cx="4151376" cy="4407408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4658868" y="1975104"/>
            <a:ext cx="4151376" cy="457200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4750307" y="2011680"/>
            <a:ext cx="3968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Veristock — Solar Infrastructure Management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4750307" y="2276856"/>
            <a:ext cx="396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DMRE INEP Programme | Xahumba Engineering | 202</a:t>
            </a:r>
            <a:r>
              <a:rPr lang="en-US" sz="800">
                <a:solidFill>
                  <a:srgbClr val="A8D8E0"/>
                </a:solidFill>
              </a:rPr>
              <a:t>5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4750307" y="2479548"/>
            <a:ext cx="396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4750307" y="2633472"/>
            <a:ext cx="1261872" cy="292608"/>
          </a:xfrm>
          <a:prstGeom prst="rect">
            <a:avLst/>
          </a:prstGeom>
          <a:solidFill>
            <a:srgbClr val="4A6FAB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4777740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Site Survey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6021323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6103619" y="2633472"/>
            <a:ext cx="1261872" cy="292608"/>
          </a:xfrm>
          <a:prstGeom prst="rect">
            <a:avLst/>
          </a:prstGeom>
          <a:solidFill>
            <a:srgbClr val="4A6FAB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6131051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Installation</a:t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7374636" y="2688336"/>
            <a:ext cx="1280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7456931" y="2633472"/>
            <a:ext cx="1261872" cy="292608"/>
          </a:xfrm>
          <a:prstGeom prst="rect">
            <a:avLst/>
          </a:prstGeom>
          <a:solidFill>
            <a:srgbClr val="4A6FAB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7484363" y="2679192"/>
            <a:ext cx="12070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Sign-Off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4750307" y="3017520"/>
            <a:ext cx="3968496" cy="256032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4832603" y="306324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4777740" y="32918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SaaS platform for large-scale solar installation projects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4777740" y="35204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Replaces paper-based manual drives with digital workflows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4777740" y="37490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DMRE Integrated National Electrification Programme (INEP)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4777740" y="3977639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Off-grid beneficiary tracking &amp; field ops management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4777740" y="4206240"/>
            <a:ext cx="3913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 •  Mobile-first design for rural field technicians</a:t>
            </a:r>
            <a:endParaRPr/>
          </a:p>
        </p:txBody>
      </p:sp>
      <p:sp>
        <p:nvSpPr>
          <p:cNvPr id="337" name="Google Shape;337;p17"/>
          <p:cNvSpPr/>
          <p:nvPr/>
        </p:nvSpPr>
        <p:spPr>
          <a:xfrm>
            <a:off x="4750307" y="6071616"/>
            <a:ext cx="3968496" cy="256032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4768596" y="611733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National programme  |  Off-grid beneficiary tracking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4768596" y="5833872"/>
            <a:ext cx="1005839" cy="182880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4805172" y="5852160"/>
            <a:ext cx="95097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Energy Infra</a:t>
            </a:r>
            <a:endParaRPr/>
          </a:p>
        </p:txBody>
      </p:sp>
      <p:sp>
        <p:nvSpPr>
          <p:cNvPr id="341" name="Google Shape;341;p17"/>
          <p:cNvSpPr/>
          <p:nvPr/>
        </p:nvSpPr>
        <p:spPr>
          <a:xfrm>
            <a:off x="5829300" y="5833872"/>
            <a:ext cx="457200" cy="182880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5865876" y="5852160"/>
            <a:ext cx="4023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6341364" y="5833872"/>
            <a:ext cx="800100" cy="182880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6377940" y="5852160"/>
            <a:ext cx="7452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DMRE INEP</a:t>
            </a:r>
            <a:endParaRPr/>
          </a:p>
        </p:txBody>
      </p:sp>
      <p:sp>
        <p:nvSpPr>
          <p:cNvPr id="345" name="Google Shape;345;p17"/>
          <p:cNvSpPr txBox="1"/>
          <p:nvPr/>
        </p:nvSpPr>
        <p:spPr>
          <a:xfrm>
            <a:off x="301752" y="6333744"/>
            <a:ext cx="8540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All platforms developed by Yima Yimeka (Pty) Ltd  |  South African owned &amp; operated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0" y="700000"/>
            <a:ext cx="9144000" cy="5604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GP eGov Skills Audit — Executive Close-Out  |  Building a Digital Capable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200000" y="1260000"/>
            <a:ext cx="8744000" cy="8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200000" y="1260000"/>
            <a:ext cx="30000" cy="80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250000" y="1340000"/>
            <a:ext cx="500000" cy="500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 txBox="1"/>
          <p:nvPr/>
        </p:nvSpPr>
        <p:spPr>
          <a:xfrm>
            <a:off x="810000" y="1330000"/>
            <a:ext cx="790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Strategic &amp; Legislative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810000" y="1670000"/>
            <a:ext cx="789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-US" sz="1250" u="none" cap="none" strike="noStrike">
                <a:solidFill>
                  <a:srgbClr val="444444"/>
                </a:solidFill>
              </a:rPr>
              <a:t>Mandate, NDP alignment, PS-SAMF compliance, and data sovereignty framework.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200000" y="2100000"/>
            <a:ext cx="8744000" cy="8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200000" y="2100000"/>
            <a:ext cx="30000" cy="80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250000" y="2180000"/>
            <a:ext cx="500000" cy="500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810000" y="2170000"/>
            <a:ext cx="790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Project Milestone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 txBox="1"/>
          <p:nvPr/>
        </p:nvSpPr>
        <p:spPr>
          <a:xfrm>
            <a:off x="810000" y="2510000"/>
            <a:ext cx="789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-US" sz="1250" u="none" cap="none" strike="noStrike">
                <a:solidFill>
                  <a:srgbClr val="444444"/>
                </a:solidFill>
              </a:rPr>
              <a:t>All Four milestones  COMPLETED.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200000" y="2940000"/>
            <a:ext cx="8744000" cy="8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200000" y="2940000"/>
            <a:ext cx="30000" cy="80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250000" y="3020000"/>
            <a:ext cx="500000" cy="500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810000" y="3010000"/>
            <a:ext cx="790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Audit Foundation: Coverage, Quality &amp; PS-SAMF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810000" y="3350000"/>
            <a:ext cx="789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-US" sz="1250" u="none" cap="none" strike="noStrike">
                <a:solidFill>
                  <a:srgbClr val="444444"/>
                </a:solidFill>
              </a:rPr>
              <a:t>711 staff, 674 CVs assessed, 95% CV Assessment coverage, 87/100 Digital Audit Coverage.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200000" y="3780000"/>
            <a:ext cx="8744000" cy="8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200000" y="3780000"/>
            <a:ext cx="30000" cy="80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250000" y="3860000"/>
            <a:ext cx="500000" cy="500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810000" y="3850000"/>
            <a:ext cx="790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Strategic Report Presentations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8"/>
          <p:cNvSpPr txBox="1"/>
          <p:nvPr/>
        </p:nvSpPr>
        <p:spPr>
          <a:xfrm>
            <a:off x="810000" y="4190000"/>
            <a:ext cx="789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-US" sz="1250" u="none" cap="none" strike="noStrike">
                <a:solidFill>
                  <a:srgbClr val="444444"/>
                </a:solidFill>
              </a:rPr>
              <a:t>Five delivered Reports — data integrity, future skills, IDPs, workforce capability, DCDF.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200000" y="4620000"/>
            <a:ext cx="8744000" cy="8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200000" y="4620000"/>
            <a:ext cx="30000" cy="80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250000" y="4700000"/>
            <a:ext cx="500000" cy="500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810000" y="4690000"/>
            <a:ext cx="790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Roadmap to Advanced Maturity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810000" y="5030000"/>
            <a:ext cx="789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PS-SAMF signal breakdown, gaps to close, and action plan.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200000" y="5460000"/>
            <a:ext cx="8744000" cy="80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200000" y="5460000"/>
            <a:ext cx="30000" cy="80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250000" y="5540000"/>
            <a:ext cx="500000" cy="500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810000" y="5530000"/>
            <a:ext cx="7899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Conclusion and Insights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810000" y="5870000"/>
            <a:ext cx="7899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Paving The Way Forward: From Evidence to 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0" y="700000"/>
            <a:ext cx="9144000" cy="5800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&amp; Legislative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305000" y="1290000"/>
            <a:ext cx="8534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Why this audit matters — and what it was designed to achieve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305000" y="1600000"/>
            <a:ext cx="8534000" cy="2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200000" y="1660000"/>
            <a:ext cx="4300000" cy="448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200000" y="1660000"/>
            <a:ext cx="4300000" cy="6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320000" y="1740000"/>
            <a:ext cx="40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Strategic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320000" y="2093340"/>
            <a:ext cx="40599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Mandate for Change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GP eGov is mandated to build a workforce ready for the digital age — the audit translates that mandate into measurable evidence.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Baseline Established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For the first time, leadership has an objective, data-driven view of the entire workforce — the foundation for future skills readiness.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NDP Alignment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The National Development Plan (Chapter 13) calls for a capable, ethical, and developmental state. This audit is the department's measurable contribution.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Data-Driven Governance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Every finding is derived from CVs, JDs, and establishment records held by the department — no external data was introduced.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4564000" y="1720000"/>
            <a:ext cx="22000" cy="436000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4680000" y="1660000"/>
            <a:ext cx="4300000" cy="448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4680000" y="1660000"/>
            <a:ext cx="4300000" cy="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9"/>
          <p:cNvSpPr txBox="1"/>
          <p:nvPr/>
        </p:nvSpPr>
        <p:spPr>
          <a:xfrm>
            <a:off x="4800000" y="1740000"/>
            <a:ext cx="40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Legislative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9"/>
          <p:cNvSpPr txBox="1"/>
          <p:nvPr/>
        </p:nvSpPr>
        <p:spPr>
          <a:xfrm>
            <a:off x="4800000" y="2108580"/>
            <a:ext cx="4059900" cy="38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PS-SAMF Compliance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Audit conducted per DPSA Circular 25 of 2023 — standardised, uniform skills demand methodology applicable to all government departments.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POPIA No. 4 of 2013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All employee data handled with strict confidentiality. The department acts as Responsible Party. No personal data was transmitted to external systems.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MISS 1996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Information security standards observed throughout. All data stored within state-controlled infrastructure.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State Data Sovereignty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All data, source code, generated frameworks, and deliverables are the exclusive, irrevocable property of the Gauteng Provincial Government.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</a:rPr>
              <a:t>▪  Regulatory Alignment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7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i="0" lang="en-US" sz="1150" u="none" cap="none" strike="noStrike">
                <a:solidFill>
                  <a:srgbClr val="444444"/>
                </a:solidFill>
              </a:rPr>
              <a:t>   Fulfils HR planning requirements of the Public Service Act 1994 and Public Service Regulations 2016.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200000" y="6180000"/>
            <a:ext cx="8744000" cy="28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PS-SAMF (DPSA Circular 25/2023)  ·  POPIA No. 4 of 2013  ·  MISS 1996  ·  Public Service Act 1994  ·  PS Regulations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TOR Scope and Deliverables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Comprehensive summary of all seven deliverables as per the Terms of Reference</a:t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201168" y="1645920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201168" y="1645920"/>
            <a:ext cx="1965960" cy="7315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265175" y="1691650"/>
            <a:ext cx="5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658368" y="1664208"/>
            <a:ext cx="141731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PID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658368" y="2130552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Initiation Doc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283464" y="24323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Inception Report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283464" y="2697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Methodology &amp; Workplan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283464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Stakeholder mapping done</a:t>
            </a:r>
            <a:endParaRPr/>
          </a:p>
        </p:txBody>
      </p:sp>
      <p:sp>
        <p:nvSpPr>
          <p:cNvPr id="420" name="Google Shape;420;p20"/>
          <p:cNvSpPr txBox="1"/>
          <p:nvPr/>
        </p:nvSpPr>
        <p:spPr>
          <a:xfrm>
            <a:off x="283464" y="31546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Anomaly detection scoped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283464" y="3383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HITL validation defined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283464" y="3557016"/>
            <a:ext cx="1801368" cy="2011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283464" y="3557016"/>
            <a:ext cx="1801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COMPLETE</a:t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2267712" y="1645920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2267712" y="1645920"/>
            <a:ext cx="1965960" cy="73152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2331727" y="1691650"/>
            <a:ext cx="5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27" name="Google Shape;427;p20"/>
          <p:cNvSpPr txBox="1"/>
          <p:nvPr/>
        </p:nvSpPr>
        <p:spPr>
          <a:xfrm>
            <a:off x="2724912" y="1664208"/>
            <a:ext cx="141731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2724912" y="2130552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CV Coverage</a:t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2350008" y="24323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Skills Audit Report</a:t>
            </a:r>
            <a:endParaRPr/>
          </a:p>
        </p:txBody>
      </p:sp>
      <p:sp>
        <p:nvSpPr>
          <p:cNvPr id="430" name="Google Shape;430;p20"/>
          <p:cNvSpPr txBox="1"/>
          <p:nvPr/>
        </p:nvSpPr>
        <p:spPr>
          <a:xfrm>
            <a:off x="2350008" y="2697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Full Gap &amp; Readiness Analysis</a:t>
            </a:r>
            <a:endParaRPr/>
          </a:p>
        </p:txBody>
      </p:sp>
      <p:sp>
        <p:nvSpPr>
          <p:cNvPr id="431" name="Google Shape;431;p20"/>
          <p:cNvSpPr txBox="1"/>
          <p:nvPr/>
        </p:nvSpPr>
        <p:spPr>
          <a:xfrm>
            <a:off x="2350008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674 of 711 CVs assessed</a:t>
            </a:r>
            <a:endParaRPr/>
          </a:p>
        </p:txBody>
      </p:sp>
      <p:sp>
        <p:nvSpPr>
          <p:cNvPr id="432" name="Google Shape;432;p20"/>
          <p:cNvSpPr txBox="1"/>
          <p:nvPr/>
        </p:nvSpPr>
        <p:spPr>
          <a:xfrm>
            <a:off x="2350008" y="31546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90% data compliance met</a:t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2350008" y="3383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87/100 Readiness Score</a:t>
            </a:r>
            <a:endParaRPr/>
          </a:p>
        </p:txBody>
      </p:sp>
      <p:sp>
        <p:nvSpPr>
          <p:cNvPr id="434" name="Google Shape;434;p20"/>
          <p:cNvSpPr/>
          <p:nvPr/>
        </p:nvSpPr>
        <p:spPr>
          <a:xfrm>
            <a:off x="2350008" y="3557016"/>
            <a:ext cx="1801368" cy="20116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0"/>
          <p:cNvSpPr txBox="1"/>
          <p:nvPr/>
        </p:nvSpPr>
        <p:spPr>
          <a:xfrm>
            <a:off x="2350008" y="3557016"/>
            <a:ext cx="1801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COMPLETE</a:t>
            </a:r>
            <a:endParaRPr/>
          </a:p>
        </p:txBody>
      </p:sp>
      <p:sp>
        <p:nvSpPr>
          <p:cNvPr id="436" name="Google Shape;436;p20"/>
          <p:cNvSpPr/>
          <p:nvPr/>
        </p:nvSpPr>
        <p:spPr>
          <a:xfrm>
            <a:off x="4334255" y="1645920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334255" y="1645920"/>
            <a:ext cx="1965960" cy="7315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0"/>
          <p:cNvSpPr txBox="1"/>
          <p:nvPr/>
        </p:nvSpPr>
        <p:spPr>
          <a:xfrm>
            <a:off x="4398278" y="1691650"/>
            <a:ext cx="5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39" name="Google Shape;439;p20"/>
          <p:cNvSpPr txBox="1"/>
          <p:nvPr/>
        </p:nvSpPr>
        <p:spPr>
          <a:xfrm>
            <a:off x="4791455" y="1664208"/>
            <a:ext cx="141731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121</a:t>
            </a:r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4791455" y="2130552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SFIA 7 ICT Skills</a:t>
            </a:r>
            <a:endParaRPr/>
          </a:p>
        </p:txBody>
      </p:sp>
      <p:sp>
        <p:nvSpPr>
          <p:cNvPr id="441" name="Google Shape;441;p20"/>
          <p:cNvSpPr txBox="1"/>
          <p:nvPr/>
        </p:nvSpPr>
        <p:spPr>
          <a:xfrm>
            <a:off x="4416551" y="24323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Competency Framework</a:t>
            </a:r>
            <a:endParaRPr/>
          </a:p>
        </p:txBody>
      </p:sp>
      <p:sp>
        <p:nvSpPr>
          <p:cNvPr id="442" name="Google Shape;442;p20"/>
          <p:cNvSpPr txBox="1"/>
          <p:nvPr/>
        </p:nvSpPr>
        <p:spPr>
          <a:xfrm>
            <a:off x="4416551" y="2697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DPSA Capability Framework &amp; DCDF</a:t>
            </a:r>
            <a:endParaRPr/>
          </a:p>
        </p:txBody>
      </p:sp>
      <p:sp>
        <p:nvSpPr>
          <p:cNvPr id="443" name="Google Shape;443;p20"/>
          <p:cNvSpPr txBox="1"/>
          <p:nvPr/>
        </p:nvSpPr>
        <p:spPr>
          <a:xfrm>
            <a:off x="4416551" y="29260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Digital Capability Development Framework (DCDF)</a:t>
            </a:r>
            <a:endParaRPr/>
          </a:p>
        </p:txBody>
      </p:sp>
      <p:sp>
        <p:nvSpPr>
          <p:cNvPr id="444" name="Google Shape;444;p20"/>
          <p:cNvSpPr txBox="1"/>
          <p:nvPr/>
        </p:nvSpPr>
        <p:spPr>
          <a:xfrm>
            <a:off x="4416551" y="3230880"/>
            <a:ext cx="182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DPSA Capability Framework </a:t>
            </a:r>
            <a:r>
              <a:rPr lang="en-US" sz="800">
                <a:solidFill>
                  <a:srgbClr val="444444"/>
                </a:solidFill>
              </a:rPr>
              <a:t> </a:t>
            </a:r>
            <a:r>
              <a:rPr lang="en-US" sz="800">
                <a:solidFill>
                  <a:srgbClr val="444444"/>
                </a:solidFill>
              </a:rPr>
              <a:t>Aligned</a:t>
            </a:r>
            <a:endParaRPr/>
          </a:p>
        </p:txBody>
      </p:sp>
      <p:sp>
        <p:nvSpPr>
          <p:cNvPr id="445" name="Google Shape;445;p20"/>
          <p:cNvSpPr/>
          <p:nvPr/>
        </p:nvSpPr>
        <p:spPr>
          <a:xfrm>
            <a:off x="4416551" y="3557016"/>
            <a:ext cx="1801368" cy="2011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4416551" y="3557016"/>
            <a:ext cx="1801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COMPLETE</a:t>
            </a:r>
            <a:endParaRPr/>
          </a:p>
        </p:txBody>
      </p:sp>
      <p:sp>
        <p:nvSpPr>
          <p:cNvPr id="447" name="Google Shape;447;p20"/>
          <p:cNvSpPr/>
          <p:nvPr/>
        </p:nvSpPr>
        <p:spPr>
          <a:xfrm>
            <a:off x="6400799" y="1645920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6400799" y="1645920"/>
            <a:ext cx="1965960" cy="73152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 txBox="1"/>
          <p:nvPr/>
        </p:nvSpPr>
        <p:spPr>
          <a:xfrm>
            <a:off x="6464797" y="1691650"/>
            <a:ext cx="5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50" name="Google Shape;450;p20"/>
          <p:cNvSpPr txBox="1"/>
          <p:nvPr/>
        </p:nvSpPr>
        <p:spPr>
          <a:xfrm>
            <a:off x="6857999" y="1664208"/>
            <a:ext cx="141731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51" name="Google Shape;451;p20"/>
          <p:cNvSpPr txBox="1"/>
          <p:nvPr/>
        </p:nvSpPr>
        <p:spPr>
          <a:xfrm>
            <a:off x="6857999" y="2130552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Rollout</a:t>
            </a:r>
            <a:endParaRPr/>
          </a:p>
        </p:txBody>
      </p:sp>
      <p:sp>
        <p:nvSpPr>
          <p:cNvPr id="452" name="Google Shape;452;p20"/>
          <p:cNvSpPr txBox="1"/>
          <p:nvPr/>
        </p:nvSpPr>
        <p:spPr>
          <a:xfrm>
            <a:off x="6483095" y="24323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Training Roadmap</a:t>
            </a:r>
            <a:endParaRPr/>
          </a:p>
        </p:txBody>
      </p:sp>
      <p:sp>
        <p:nvSpPr>
          <p:cNvPr id="453" name="Google Shape;453;p20"/>
          <p:cNvSpPr txBox="1"/>
          <p:nvPr/>
        </p:nvSpPr>
        <p:spPr>
          <a:xfrm>
            <a:off x="6483095" y="2697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Short, Medium &amp; Long-Term</a:t>
            </a:r>
            <a:endParaRPr/>
          </a:p>
        </p:txBody>
      </p:sp>
      <p:sp>
        <p:nvSpPr>
          <p:cNvPr id="454" name="Google Shape;454;p20"/>
          <p:cNvSpPr txBox="1"/>
          <p:nvPr/>
        </p:nvSpPr>
        <p:spPr>
          <a:xfrm>
            <a:off x="6483095" y="2926080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30-day: Digital Literacy</a:t>
            </a:r>
            <a:endParaRPr/>
          </a:p>
        </p:txBody>
      </p:sp>
      <p:sp>
        <p:nvSpPr>
          <p:cNvPr id="455" name="Google Shape;455;p20"/>
          <p:cNvSpPr txBox="1"/>
          <p:nvPr/>
        </p:nvSpPr>
        <p:spPr>
          <a:xfrm>
            <a:off x="6483095" y="31546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Q1: Cybersecurity &amp; POPIA</a:t>
            </a:r>
            <a:endParaRPr/>
          </a:p>
        </p:txBody>
      </p:sp>
      <p:sp>
        <p:nvSpPr>
          <p:cNvPr id="456" name="Google Shape;456;p20"/>
          <p:cNvSpPr txBox="1"/>
          <p:nvPr/>
        </p:nvSpPr>
        <p:spPr>
          <a:xfrm>
            <a:off x="6483095" y="3383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Q2: Leadership + Data Gov</a:t>
            </a:r>
            <a:endParaRPr/>
          </a:p>
        </p:txBody>
      </p:sp>
      <p:sp>
        <p:nvSpPr>
          <p:cNvPr id="457" name="Google Shape;457;p20"/>
          <p:cNvSpPr/>
          <p:nvPr/>
        </p:nvSpPr>
        <p:spPr>
          <a:xfrm>
            <a:off x="6483095" y="3557016"/>
            <a:ext cx="1801368" cy="20116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0"/>
          <p:cNvSpPr txBox="1"/>
          <p:nvPr/>
        </p:nvSpPr>
        <p:spPr>
          <a:xfrm>
            <a:off x="6483095" y="3557016"/>
            <a:ext cx="1801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COMPLETE</a:t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1522476" y="3904488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1522476" y="3904488"/>
            <a:ext cx="1965960" cy="7315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 txBox="1"/>
          <p:nvPr/>
        </p:nvSpPr>
        <p:spPr>
          <a:xfrm>
            <a:off x="1586472" y="3950200"/>
            <a:ext cx="5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1979676" y="3922776"/>
            <a:ext cx="1417319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/>
          </a:p>
        </p:txBody>
      </p:sp>
      <p:sp>
        <p:nvSpPr>
          <p:cNvPr id="463" name="Google Shape;463;p20"/>
          <p:cNvSpPr txBox="1"/>
          <p:nvPr/>
        </p:nvSpPr>
        <p:spPr>
          <a:xfrm>
            <a:off x="1979676" y="438912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Powered Platform</a:t>
            </a:r>
            <a:endParaRPr/>
          </a:p>
        </p:txBody>
      </p:sp>
      <p:sp>
        <p:nvSpPr>
          <p:cNvPr id="464" name="Google Shape;464;p20"/>
          <p:cNvSpPr txBox="1"/>
          <p:nvPr/>
        </p:nvSpPr>
        <p:spPr>
          <a:xfrm>
            <a:off x="1604772" y="4690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Workforce Planning Tool</a:t>
            </a:r>
            <a:endParaRPr/>
          </a:p>
        </p:txBody>
      </p:sp>
      <p:sp>
        <p:nvSpPr>
          <p:cNvPr id="465" name="Google Shape;465;p20"/>
          <p:cNvSpPr txBox="1"/>
          <p:nvPr/>
        </p:nvSpPr>
        <p:spPr>
          <a:xfrm>
            <a:off x="1604772" y="49560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VeriSkill AI Platform</a:t>
            </a:r>
            <a:endParaRPr/>
          </a:p>
        </p:txBody>
      </p:sp>
      <p:sp>
        <p:nvSpPr>
          <p:cNvPr id="466" name="Google Shape;466;p20"/>
          <p:cNvSpPr txBox="1"/>
          <p:nvPr/>
        </p:nvSpPr>
        <p:spPr>
          <a:xfrm>
            <a:off x="1604772" y="51846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Bulk CV parsing engine</a:t>
            </a:r>
            <a:endParaRPr/>
          </a:p>
        </p:txBody>
      </p:sp>
      <p:sp>
        <p:nvSpPr>
          <p:cNvPr id="467" name="Google Shape;467;p20"/>
          <p:cNvSpPr txBox="1"/>
          <p:nvPr/>
        </p:nvSpPr>
        <p:spPr>
          <a:xfrm>
            <a:off x="1604772" y="5413248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Automated </a:t>
            </a:r>
            <a:r>
              <a:rPr lang="en-US" sz="800">
                <a:solidFill>
                  <a:srgbClr val="444444"/>
                </a:solidFill>
              </a:rPr>
              <a:t>Role </a:t>
            </a:r>
            <a:r>
              <a:rPr lang="en-US" sz="800">
                <a:solidFill>
                  <a:srgbClr val="444444"/>
                </a:solidFill>
              </a:rPr>
              <a:t>Research</a:t>
            </a:r>
            <a:r>
              <a:rPr lang="en-US" sz="800">
                <a:solidFill>
                  <a:srgbClr val="444444"/>
                </a:solidFill>
              </a:rPr>
              <a:t> </a:t>
            </a:r>
            <a:endParaRPr/>
          </a:p>
        </p:txBody>
      </p:sp>
      <p:sp>
        <p:nvSpPr>
          <p:cNvPr id="468" name="Google Shape;468;p20"/>
          <p:cNvSpPr txBox="1"/>
          <p:nvPr/>
        </p:nvSpPr>
        <p:spPr>
          <a:xfrm>
            <a:off x="1604772" y="564184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IDP generation</a:t>
            </a: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module</a:t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1604772" y="5815584"/>
            <a:ext cx="1801368" cy="2011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 txBox="1"/>
          <p:nvPr/>
        </p:nvSpPr>
        <p:spPr>
          <a:xfrm>
            <a:off x="1604772" y="5815584"/>
            <a:ext cx="1801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COMPLETE</a:t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>
            <a:off x="3589020" y="3904488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3589020" y="3904488"/>
            <a:ext cx="1965960" cy="73152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 txBox="1"/>
          <p:nvPr/>
        </p:nvSpPr>
        <p:spPr>
          <a:xfrm>
            <a:off x="3653024" y="3950200"/>
            <a:ext cx="49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474" name="Google Shape;474;p20"/>
          <p:cNvSpPr txBox="1"/>
          <p:nvPr/>
        </p:nvSpPr>
        <p:spPr>
          <a:xfrm>
            <a:off x="4046220" y="3922776"/>
            <a:ext cx="141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75" name="Google Shape;475;p20"/>
          <p:cNvSpPr txBox="1"/>
          <p:nvPr/>
        </p:nvSpPr>
        <p:spPr>
          <a:xfrm>
            <a:off x="4046220" y="438912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Branch Heatmaps</a:t>
            </a:r>
            <a:endParaRPr/>
          </a:p>
        </p:txBody>
      </p:sp>
      <p:sp>
        <p:nvSpPr>
          <p:cNvPr id="476" name="Google Shape;476;p20"/>
          <p:cNvSpPr txBox="1"/>
          <p:nvPr/>
        </p:nvSpPr>
        <p:spPr>
          <a:xfrm>
            <a:off x="3671316" y="4690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Gap Analysis Dashboard</a:t>
            </a:r>
            <a:endParaRPr/>
          </a:p>
        </p:txBody>
      </p:sp>
      <p:sp>
        <p:nvSpPr>
          <p:cNvPr id="477" name="Google Shape;477;p20"/>
          <p:cNvSpPr txBox="1"/>
          <p:nvPr/>
        </p:nvSpPr>
        <p:spPr>
          <a:xfrm>
            <a:off x="3671316" y="49560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Tech-Enabled Analytics</a:t>
            </a:r>
            <a:endParaRPr/>
          </a:p>
        </p:txBody>
      </p:sp>
      <p:sp>
        <p:nvSpPr>
          <p:cNvPr id="478" name="Google Shape;478;p20"/>
          <p:cNvSpPr txBox="1"/>
          <p:nvPr/>
        </p:nvSpPr>
        <p:spPr>
          <a:xfrm>
            <a:off x="3671316" y="5184648"/>
            <a:ext cx="182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</a:t>
            </a:r>
            <a:r>
              <a:rPr lang="en-US" sz="800">
                <a:solidFill>
                  <a:srgbClr val="444444"/>
                </a:solidFill>
              </a:rPr>
              <a:t>Aggregated Workforce Capability Reporting</a:t>
            </a:r>
            <a:endParaRPr/>
          </a:p>
        </p:txBody>
      </p:sp>
      <p:sp>
        <p:nvSpPr>
          <p:cNvPr id="479" name="Google Shape;479;p20"/>
          <p:cNvSpPr txBox="1"/>
          <p:nvPr/>
        </p:nvSpPr>
        <p:spPr>
          <a:xfrm>
            <a:off x="3656076" y="5474208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3671316" y="5815584"/>
            <a:ext cx="1801368" cy="20116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 txBox="1"/>
          <p:nvPr/>
        </p:nvSpPr>
        <p:spPr>
          <a:xfrm>
            <a:off x="3671316" y="5815584"/>
            <a:ext cx="1801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COMPLETE</a:t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5655564" y="3904488"/>
            <a:ext cx="1965960" cy="2148840"/>
          </a:xfrm>
          <a:prstGeom prst="rect">
            <a:avLst/>
          </a:prstGeom>
          <a:solidFill>
            <a:srgbClr val="F4F6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5655564" y="3904488"/>
            <a:ext cx="1965960" cy="7315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5719576" y="3950200"/>
            <a:ext cx="49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485" name="Google Shape;485;p20"/>
          <p:cNvSpPr txBox="1"/>
          <p:nvPr/>
        </p:nvSpPr>
        <p:spPr>
          <a:xfrm>
            <a:off x="6112764" y="3922776"/>
            <a:ext cx="1417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86" name="Google Shape;486;p20"/>
          <p:cNvSpPr txBox="1"/>
          <p:nvPr/>
        </p:nvSpPr>
        <p:spPr>
          <a:xfrm>
            <a:off x="6112764" y="4389120"/>
            <a:ext cx="141731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Strategic Reports</a:t>
            </a:r>
            <a:endParaRPr/>
          </a:p>
        </p:txBody>
      </p:sp>
      <p:sp>
        <p:nvSpPr>
          <p:cNvPr id="487" name="Google Shape;487;p20"/>
          <p:cNvSpPr txBox="1"/>
          <p:nvPr/>
        </p:nvSpPr>
        <p:spPr>
          <a:xfrm>
            <a:off x="5737860" y="469087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Close-Out Report</a:t>
            </a:r>
            <a:endParaRPr/>
          </a:p>
        </p:txBody>
      </p:sp>
      <p:sp>
        <p:nvSpPr>
          <p:cNvPr id="488" name="Google Shape;488;p20"/>
          <p:cNvSpPr txBox="1"/>
          <p:nvPr/>
        </p:nvSpPr>
        <p:spPr>
          <a:xfrm>
            <a:off x="5737860" y="495604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Executive Presentation</a:t>
            </a:r>
            <a:endParaRPr/>
          </a:p>
        </p:txBody>
      </p:sp>
      <p:sp>
        <p:nvSpPr>
          <p:cNvPr id="489" name="Google Shape;489;p20"/>
          <p:cNvSpPr txBox="1"/>
          <p:nvPr/>
        </p:nvSpPr>
        <p:spPr>
          <a:xfrm>
            <a:off x="5737860" y="5184648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▪  </a:t>
            </a:r>
            <a:r>
              <a:rPr lang="en-US" sz="800">
                <a:solidFill>
                  <a:srgbClr val="444444"/>
                </a:solidFill>
              </a:rPr>
              <a:t>Scheduled</a:t>
            </a: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800">
                <a:solidFill>
                  <a:srgbClr val="444444"/>
                </a:solidFill>
              </a:rPr>
              <a:t>13</a:t>
            </a: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lang="en-US" sz="800">
                <a:solidFill>
                  <a:srgbClr val="444444"/>
                </a:solidFill>
              </a:rPr>
              <a:t>ly</a:t>
            </a: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>
            <a:off x="5737860" y="5815584"/>
            <a:ext cx="1801368" cy="2011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5737850" y="5802494"/>
            <a:ext cx="180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✔   Compl</a:t>
            </a:r>
            <a:r>
              <a:rPr b="1" lang="en-US" sz="750">
                <a:solidFill>
                  <a:srgbClr val="FFFFFF"/>
                </a:solidFill>
              </a:rPr>
              <a:t>eted Presentation </a:t>
            </a:r>
            <a:endParaRPr/>
          </a:p>
        </p:txBody>
      </p:sp>
      <p:sp>
        <p:nvSpPr>
          <p:cNvPr id="492" name="Google Shape;492;p20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lang="en-US" sz="950">
                <a:solidFill>
                  <a:srgbClr val="CADCFC"/>
                </a:solidFill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 Frameworks &amp; Methodology</a:t>
            </a:r>
            <a:endParaRPr/>
          </a:p>
        </p:txBody>
      </p:sp>
      <p:sp>
        <p:nvSpPr>
          <p:cNvPr id="502" name="Google Shape;502;p21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Scientific Basis | Legislative Grounding | Analytical Pipeline</a:t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lang="en-US" sz="950">
                <a:solidFill>
                  <a:srgbClr val="CADCFC"/>
                </a:solidFill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506" name="Google Shape;506;p21"/>
          <p:cNvSpPr txBox="1"/>
          <p:nvPr/>
        </p:nvSpPr>
        <p:spPr>
          <a:xfrm>
            <a:off x="301752" y="1682496"/>
            <a:ext cx="8540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LEGISLATIVE &amp; POLICY FRAMEWORK</a:t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>
            <a:off x="301752" y="1682496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301752" y="1929384"/>
            <a:ext cx="2066543" cy="82296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301752" y="1929384"/>
            <a:ext cx="2066543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1"/>
          <p:cNvSpPr txBox="1"/>
          <p:nvPr/>
        </p:nvSpPr>
        <p:spPr>
          <a:xfrm>
            <a:off x="356616" y="1956815"/>
            <a:ext cx="19568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Service Act</a:t>
            </a:r>
            <a:endParaRPr/>
          </a:p>
        </p:txBody>
      </p:sp>
      <p:sp>
        <p:nvSpPr>
          <p:cNvPr id="511" name="Google Shape;511;p21"/>
          <p:cNvSpPr txBox="1"/>
          <p:nvPr/>
        </p:nvSpPr>
        <p:spPr>
          <a:xfrm>
            <a:off x="493691" y="1869728"/>
            <a:ext cx="195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(PS Act No. 103/1994)</a:t>
            </a:r>
            <a:endParaRPr/>
          </a:p>
        </p:txBody>
      </p:sp>
      <p:sp>
        <p:nvSpPr>
          <p:cNvPr id="512" name="Google Shape;512;p21"/>
          <p:cNvSpPr txBox="1"/>
          <p:nvPr/>
        </p:nvSpPr>
        <p:spPr>
          <a:xfrm>
            <a:off x="374900" y="2194571"/>
            <a:ext cx="1938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Mandate for skills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standards &amp; competency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2450591" y="1929384"/>
            <a:ext cx="2066543" cy="82296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2450591" y="1929384"/>
            <a:ext cx="2066543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1"/>
          <p:cNvSpPr txBox="1"/>
          <p:nvPr/>
        </p:nvSpPr>
        <p:spPr>
          <a:xfrm>
            <a:off x="2505456" y="1956815"/>
            <a:ext cx="19568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POPIA Act 4/2013</a:t>
            </a:r>
            <a:endParaRPr/>
          </a:p>
        </p:txBody>
      </p:sp>
      <p:sp>
        <p:nvSpPr>
          <p:cNvPr id="516" name="Google Shape;516;p21"/>
          <p:cNvSpPr txBox="1"/>
          <p:nvPr/>
        </p:nvSpPr>
        <p:spPr>
          <a:xfrm>
            <a:off x="2505456" y="1862328"/>
            <a:ext cx="1956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(Protection of Personal Info)</a:t>
            </a:r>
            <a:endParaRPr/>
          </a:p>
        </p:txBody>
      </p:sp>
      <p:sp>
        <p:nvSpPr>
          <p:cNvPr id="517" name="Google Shape;517;p21"/>
          <p:cNvSpPr txBox="1"/>
          <p:nvPr/>
        </p:nvSpPr>
        <p:spPr>
          <a:xfrm>
            <a:off x="2523744" y="2240279"/>
            <a:ext cx="19385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 privacy compliance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&amp; anonymisation of all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personal employee data</a:t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4599431" y="1929384"/>
            <a:ext cx="2066543" cy="82296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4599431" y="1929384"/>
            <a:ext cx="2066543" cy="256032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1"/>
          <p:cNvSpPr txBox="1"/>
          <p:nvPr/>
        </p:nvSpPr>
        <p:spPr>
          <a:xfrm>
            <a:off x="4654300" y="1871927"/>
            <a:ext cx="195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National Skills Dev. Framework (NSDS IV)</a:t>
            </a:r>
            <a:endParaRPr/>
          </a:p>
        </p:txBody>
      </p:sp>
      <p:sp>
        <p:nvSpPr>
          <p:cNvPr id="521" name="Google Shape;521;p21"/>
          <p:cNvSpPr txBox="1"/>
          <p:nvPr/>
        </p:nvSpPr>
        <p:spPr>
          <a:xfrm>
            <a:off x="4672583" y="2240279"/>
            <a:ext cx="19385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Skills planning, sector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alignment &amp; SETA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reporting obligations</a:t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6748271" y="1929384"/>
            <a:ext cx="2066543" cy="82296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C0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6748271" y="1929384"/>
            <a:ext cx="2066543" cy="25603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1"/>
          <p:cNvSpPr txBox="1"/>
          <p:nvPr/>
        </p:nvSpPr>
        <p:spPr>
          <a:xfrm>
            <a:off x="6803135" y="1888235"/>
            <a:ext cx="195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Service</a:t>
            </a:r>
            <a:b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Regs &amp; DPSA Policy</a:t>
            </a:r>
            <a:endParaRPr/>
          </a:p>
        </p:txBody>
      </p:sp>
      <p:sp>
        <p:nvSpPr>
          <p:cNvPr id="525" name="Google Shape;525;p21"/>
          <p:cNvSpPr txBox="1"/>
          <p:nvPr/>
        </p:nvSpPr>
        <p:spPr>
          <a:xfrm>
            <a:off x="6821423" y="2240279"/>
            <a:ext cx="19385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PS-SAMF, DCDF &amp;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capability framework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alignment mandate</a:t>
            </a:r>
            <a:endParaRPr/>
          </a:p>
        </p:txBody>
      </p:sp>
      <p:sp>
        <p:nvSpPr>
          <p:cNvPr id="526" name="Google Shape;526;p21"/>
          <p:cNvSpPr txBox="1"/>
          <p:nvPr/>
        </p:nvSpPr>
        <p:spPr>
          <a:xfrm>
            <a:off x="301752" y="2816352"/>
            <a:ext cx="8540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ASSESSMENT &amp; COMPETENCY FRAMEWORKS</a:t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301752" y="2816352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301752" y="2999232"/>
            <a:ext cx="2752344" cy="106070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301752" y="2999232"/>
            <a:ext cx="2752344" cy="27432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1"/>
          <p:cNvSpPr txBox="1"/>
          <p:nvPr/>
        </p:nvSpPr>
        <p:spPr>
          <a:xfrm>
            <a:off x="365760" y="3026663"/>
            <a:ext cx="26243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PS-SAMF</a:t>
            </a:r>
            <a:endParaRPr/>
          </a:p>
        </p:txBody>
      </p:sp>
      <p:sp>
        <p:nvSpPr>
          <p:cNvPr id="531" name="Google Shape;531;p21"/>
          <p:cNvSpPr txBox="1"/>
          <p:nvPr/>
        </p:nvSpPr>
        <p:spPr>
          <a:xfrm>
            <a:off x="365760" y="3291839"/>
            <a:ext cx="262432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Public Service Skills &amp; Human Resource Management Performance Framework</a:t>
            </a:r>
            <a:endParaRPr/>
          </a:p>
        </p:txBody>
      </p:sp>
      <p:sp>
        <p:nvSpPr>
          <p:cNvPr id="532" name="Google Shape;532;p21"/>
          <p:cNvSpPr txBox="1"/>
          <p:nvPr/>
        </p:nvSpPr>
        <p:spPr>
          <a:xfrm>
            <a:off x="377952" y="3534156"/>
            <a:ext cx="258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60% PS-SAMF coverage threshold (PwC/PSETA scientific basis)</a:t>
            </a:r>
            <a:endParaRPr/>
          </a:p>
        </p:txBody>
      </p:sp>
      <p:sp>
        <p:nvSpPr>
          <p:cNvPr id="533" name="Google Shape;533;p21"/>
          <p:cNvSpPr txBox="1"/>
          <p:nvPr/>
        </p:nvSpPr>
        <p:spPr>
          <a:xfrm>
            <a:off x="355092" y="3838956"/>
            <a:ext cx="2587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Reliable gap analysis at departmental level</a:t>
            </a: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3154679" y="2999232"/>
            <a:ext cx="2752344" cy="106070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1"/>
          <p:cNvSpPr/>
          <p:nvPr/>
        </p:nvSpPr>
        <p:spPr>
          <a:xfrm>
            <a:off x="3154679" y="2999232"/>
            <a:ext cx="2752344" cy="27432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1"/>
          <p:cNvSpPr txBox="1"/>
          <p:nvPr/>
        </p:nvSpPr>
        <p:spPr>
          <a:xfrm>
            <a:off x="3218687" y="3026663"/>
            <a:ext cx="2624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DPSA Capability Framework</a:t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3218687" y="3291839"/>
            <a:ext cx="262432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Aligned to national occupational profiles &amp; future-skills taxonomy</a:t>
            </a:r>
            <a:endParaRPr/>
          </a:p>
        </p:txBody>
      </p:sp>
      <p:sp>
        <p:nvSpPr>
          <p:cNvPr id="538" name="Google Shape;538;p21"/>
          <p:cNvSpPr txBox="1"/>
          <p:nvPr/>
        </p:nvSpPr>
        <p:spPr>
          <a:xfrm>
            <a:off x="3208020" y="3572256"/>
            <a:ext cx="2587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Role-level competency benchmarking </a:t>
            </a:r>
            <a:endParaRPr/>
          </a:p>
        </p:txBody>
      </p:sp>
      <p:sp>
        <p:nvSpPr>
          <p:cNvPr id="539" name="Google Shape;539;p21"/>
          <p:cNvSpPr txBox="1"/>
          <p:nvPr/>
        </p:nvSpPr>
        <p:spPr>
          <a:xfrm>
            <a:off x="3223260" y="3777996"/>
            <a:ext cx="2587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Basis for individual readiness scoring</a:t>
            </a:r>
            <a:endParaRPr/>
          </a:p>
        </p:txBody>
      </p:sp>
      <p:sp>
        <p:nvSpPr>
          <p:cNvPr id="540" name="Google Shape;540;p21"/>
          <p:cNvSpPr/>
          <p:nvPr/>
        </p:nvSpPr>
        <p:spPr>
          <a:xfrm>
            <a:off x="6007607" y="2999232"/>
            <a:ext cx="2752344" cy="106070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6007607" y="2999232"/>
            <a:ext cx="2752344" cy="274320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1"/>
          <p:cNvSpPr txBox="1"/>
          <p:nvPr/>
        </p:nvSpPr>
        <p:spPr>
          <a:xfrm>
            <a:off x="6071625" y="3043975"/>
            <a:ext cx="2688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DCDF — Digital Capability Dev. </a:t>
            </a:r>
            <a:r>
              <a:rPr b="1" lang="en-US" sz="950">
                <a:solidFill>
                  <a:srgbClr val="FFFFFF"/>
                </a:solidFill>
              </a:rPr>
              <a:t>F</a:t>
            </a: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ramework</a:t>
            </a:r>
            <a:endParaRPr/>
          </a:p>
        </p:txBody>
      </p:sp>
      <p:sp>
        <p:nvSpPr>
          <p:cNvPr id="543" name="Google Shape;543;p21"/>
          <p:cNvSpPr txBox="1"/>
          <p:nvPr/>
        </p:nvSpPr>
        <p:spPr>
          <a:xfrm>
            <a:off x="6071616" y="3291839"/>
            <a:ext cx="262432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National digital maturity model for public service</a:t>
            </a:r>
            <a:endParaRPr/>
          </a:p>
        </p:txBody>
      </p:sp>
      <p:sp>
        <p:nvSpPr>
          <p:cNvPr id="544" name="Google Shape;544;p21"/>
          <p:cNvSpPr txBox="1"/>
          <p:nvPr/>
        </p:nvSpPr>
        <p:spPr>
          <a:xfrm>
            <a:off x="6038087" y="3465576"/>
            <a:ext cx="258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Maturity levels: Aware → Capable → Advanced → Leading</a:t>
            </a:r>
            <a:endParaRPr/>
          </a:p>
        </p:txBody>
      </p:sp>
      <p:sp>
        <p:nvSpPr>
          <p:cNvPr id="545" name="Google Shape;545;p21"/>
          <p:cNvSpPr txBox="1"/>
          <p:nvPr/>
        </p:nvSpPr>
        <p:spPr>
          <a:xfrm>
            <a:off x="5992367" y="3755136"/>
            <a:ext cx="258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• Branch-level &amp; individual digital capability mapping</a:t>
            </a:r>
            <a:endParaRPr/>
          </a:p>
        </p:txBody>
      </p:sp>
      <p:sp>
        <p:nvSpPr>
          <p:cNvPr id="546" name="Google Shape;546;p21"/>
          <p:cNvSpPr txBox="1"/>
          <p:nvPr/>
        </p:nvSpPr>
        <p:spPr>
          <a:xfrm>
            <a:off x="301752" y="4133087"/>
            <a:ext cx="8540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DATA COLLECTION &amp; ANALYTICAL PIPELINE</a:t>
            </a:r>
            <a:endParaRPr/>
          </a:p>
        </p:txBody>
      </p:sp>
      <p:sp>
        <p:nvSpPr>
          <p:cNvPr id="547" name="Google Shape;547;p21"/>
          <p:cNvSpPr/>
          <p:nvPr/>
        </p:nvSpPr>
        <p:spPr>
          <a:xfrm>
            <a:off x="301752" y="4133087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306324" y="4370832"/>
            <a:ext cx="1609344" cy="124358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306324" y="4370832"/>
            <a:ext cx="1609344" cy="329184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1"/>
          <p:cNvSpPr txBox="1"/>
          <p:nvPr/>
        </p:nvSpPr>
        <p:spPr>
          <a:xfrm>
            <a:off x="361188" y="4361688"/>
            <a:ext cx="1499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Data</a:t>
            </a:r>
            <a:b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Collection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379476" y="4736592"/>
            <a:ext cx="14813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PERSAL extract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CV uploads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+ HR records</a:t>
            </a:r>
            <a:endParaRPr/>
          </a:p>
        </p:txBody>
      </p:sp>
      <p:sp>
        <p:nvSpPr>
          <p:cNvPr id="552" name="Google Shape;552;p21"/>
          <p:cNvSpPr txBox="1"/>
          <p:nvPr/>
        </p:nvSpPr>
        <p:spPr>
          <a:xfrm>
            <a:off x="1924812" y="482803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1970532" y="4370832"/>
            <a:ext cx="1609344" cy="124358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1970532" y="4370832"/>
            <a:ext cx="1609344" cy="329184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 txBox="1"/>
          <p:nvPr/>
        </p:nvSpPr>
        <p:spPr>
          <a:xfrm>
            <a:off x="2025396" y="4407408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Anonymise</a:t>
            </a:r>
            <a:endParaRPr/>
          </a:p>
        </p:txBody>
      </p:sp>
      <p:sp>
        <p:nvSpPr>
          <p:cNvPr id="556" name="Google Shape;556;p21"/>
          <p:cNvSpPr txBox="1"/>
          <p:nvPr/>
        </p:nvSpPr>
        <p:spPr>
          <a:xfrm>
            <a:off x="2043684" y="4736592"/>
            <a:ext cx="14813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Remove PII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locally before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any AI call</a:t>
            </a:r>
            <a:endParaRPr/>
          </a:p>
        </p:txBody>
      </p:sp>
      <p:sp>
        <p:nvSpPr>
          <p:cNvPr id="557" name="Google Shape;557;p21"/>
          <p:cNvSpPr txBox="1"/>
          <p:nvPr/>
        </p:nvSpPr>
        <p:spPr>
          <a:xfrm>
            <a:off x="3589020" y="482803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3634740" y="4370832"/>
            <a:ext cx="1609344" cy="124358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3634740" y="4370832"/>
            <a:ext cx="1609344" cy="329184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 txBox="1"/>
          <p:nvPr/>
        </p:nvSpPr>
        <p:spPr>
          <a:xfrm>
            <a:off x="3689604" y="4407408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AI Extract</a:t>
            </a:r>
            <a:endParaRPr/>
          </a:p>
        </p:txBody>
      </p:sp>
      <p:sp>
        <p:nvSpPr>
          <p:cNvPr id="561" name="Google Shape;561;p21"/>
          <p:cNvSpPr txBox="1"/>
          <p:nvPr/>
        </p:nvSpPr>
        <p:spPr>
          <a:xfrm>
            <a:off x="3707891" y="4736592"/>
            <a:ext cx="14813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Skills, roles,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(NLP pipeline)</a:t>
            </a:r>
            <a:endParaRPr/>
          </a:p>
        </p:txBody>
      </p:sp>
      <p:sp>
        <p:nvSpPr>
          <p:cNvPr id="562" name="Google Shape;562;p21"/>
          <p:cNvSpPr txBox="1"/>
          <p:nvPr/>
        </p:nvSpPr>
        <p:spPr>
          <a:xfrm>
            <a:off x="5253228" y="482803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63" name="Google Shape;563;p21"/>
          <p:cNvSpPr/>
          <p:nvPr/>
        </p:nvSpPr>
        <p:spPr>
          <a:xfrm>
            <a:off x="5298948" y="4370832"/>
            <a:ext cx="1609344" cy="124358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C0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5298948" y="4370832"/>
            <a:ext cx="1609344" cy="329184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1"/>
          <p:cNvSpPr txBox="1"/>
          <p:nvPr/>
        </p:nvSpPr>
        <p:spPr>
          <a:xfrm>
            <a:off x="5353812" y="4407408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Gap Score</a:t>
            </a:r>
            <a:endParaRPr/>
          </a:p>
        </p:txBody>
      </p:sp>
      <p:sp>
        <p:nvSpPr>
          <p:cNvPr id="566" name="Google Shape;566;p21"/>
          <p:cNvSpPr txBox="1"/>
          <p:nvPr/>
        </p:nvSpPr>
        <p:spPr>
          <a:xfrm>
            <a:off x="5372100" y="4736592"/>
            <a:ext cx="14813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CV-JD match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PS-SAMF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/>
          </a:p>
        </p:txBody>
      </p:sp>
      <p:sp>
        <p:nvSpPr>
          <p:cNvPr id="567" name="Google Shape;567;p21"/>
          <p:cNvSpPr txBox="1"/>
          <p:nvPr/>
        </p:nvSpPr>
        <p:spPr>
          <a:xfrm>
            <a:off x="6917436" y="482803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6963156" y="4370832"/>
            <a:ext cx="1609344" cy="124358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243F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6963156" y="4370832"/>
            <a:ext cx="1609344" cy="329184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1"/>
          <p:cNvSpPr txBox="1"/>
          <p:nvPr/>
        </p:nvSpPr>
        <p:spPr>
          <a:xfrm>
            <a:off x="7018020" y="4407408"/>
            <a:ext cx="1499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Benchmark</a:t>
            </a:r>
            <a:endParaRPr/>
          </a:p>
        </p:txBody>
      </p:sp>
      <p:sp>
        <p:nvSpPr>
          <p:cNvPr id="571" name="Google Shape;571;p21"/>
          <p:cNvSpPr txBox="1"/>
          <p:nvPr/>
        </p:nvSpPr>
        <p:spPr>
          <a:xfrm>
            <a:off x="7036308" y="4736592"/>
            <a:ext cx="148132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DPSA DCDF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maturity &amp;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future skills</a:t>
            </a:r>
            <a:endParaRPr/>
          </a:p>
        </p:txBody>
      </p:sp>
      <p:sp>
        <p:nvSpPr>
          <p:cNvPr id="572" name="Google Shape;572;p21"/>
          <p:cNvSpPr/>
          <p:nvPr/>
        </p:nvSpPr>
        <p:spPr>
          <a:xfrm>
            <a:off x="301752" y="5687568"/>
            <a:ext cx="8540496" cy="502920"/>
          </a:xfrm>
          <a:prstGeom prst="rect">
            <a:avLst/>
          </a:prstGeom>
          <a:solidFill>
            <a:srgbClr val="E0F2F4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1"/>
          <p:cNvSpPr txBox="1"/>
          <p:nvPr/>
        </p:nvSpPr>
        <p:spPr>
          <a:xfrm>
            <a:off x="384048" y="5715000"/>
            <a:ext cx="83759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ⓘ  Scientific Basis: The 60% PS-SAMF threshold was established through research commissioned by PSETA &amp; DPSA and conducted by PricewaterhouseCoopers (PwC). It replaced historically varied and manual provincial data collection with a uniform, scientific standard capable of producing reliable gap analysis at departmental level.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2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Base &amp; Data Privacy Protocol</a:t>
            </a:r>
            <a:endParaRPr/>
          </a:p>
        </p:txBody>
      </p:sp>
      <p:sp>
        <p:nvSpPr>
          <p:cNvPr id="582" name="Google Shape;582;p22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 Sources | Privacy Architecture | Compliance Framework</a:t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2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lang="en-US" sz="950">
                <a:solidFill>
                  <a:srgbClr val="CADCFC"/>
                </a:solidFill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301752" y="1682496"/>
            <a:ext cx="8540496" cy="9144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457200" y="17190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588" name="Google Shape;588;p22"/>
          <p:cNvSpPr txBox="1"/>
          <p:nvPr/>
        </p:nvSpPr>
        <p:spPr>
          <a:xfrm>
            <a:off x="4389120" y="171907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 Profiles Audited</a:t>
            </a:r>
            <a:endParaRPr/>
          </a:p>
        </p:txBody>
      </p:sp>
      <p:sp>
        <p:nvSpPr>
          <p:cNvPr id="589" name="Google Shape;589;p22"/>
          <p:cNvSpPr txBox="1"/>
          <p:nvPr/>
        </p:nvSpPr>
        <p:spPr>
          <a:xfrm>
            <a:off x="4389120" y="2103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GP eGov Department of e-Government  |  June 2026</a:t>
            </a:r>
            <a:endParaRPr/>
          </a:p>
        </p:txBody>
      </p:sp>
      <p:sp>
        <p:nvSpPr>
          <p:cNvPr id="590" name="Google Shape;590;p22"/>
          <p:cNvSpPr txBox="1"/>
          <p:nvPr/>
        </p:nvSpPr>
        <p:spPr>
          <a:xfrm>
            <a:off x="457200" y="21031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A8D8E0"/>
                </a:solidFill>
                <a:latin typeface="Arial"/>
                <a:ea typeface="Arial"/>
                <a:cs typeface="Arial"/>
                <a:sym typeface="Arial"/>
              </a:rPr>
              <a:t>PS-SAMF threshold: 60%+ for reliable gap analysis</a:t>
            </a:r>
            <a:endParaRPr/>
          </a:p>
        </p:txBody>
      </p:sp>
      <p:sp>
        <p:nvSpPr>
          <p:cNvPr id="591" name="Google Shape;591;p22"/>
          <p:cNvSpPr txBox="1"/>
          <p:nvPr/>
        </p:nvSpPr>
        <p:spPr>
          <a:xfrm>
            <a:off x="301752" y="2688336"/>
            <a:ext cx="85404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DATA SOURCES &amp; EVIDENCE LAYERS</a:t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301752" y="2688336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301752" y="2907792"/>
            <a:ext cx="2066543" cy="87782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301752" y="2907792"/>
            <a:ext cx="2066543" cy="256032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2"/>
          <p:cNvSpPr txBox="1"/>
          <p:nvPr/>
        </p:nvSpPr>
        <p:spPr>
          <a:xfrm>
            <a:off x="356616" y="2935224"/>
            <a:ext cx="19568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PERSAL Extract</a:t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356616" y="3154680"/>
            <a:ext cx="195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Official HR Master Establishment Data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365760" y="3310128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Employee records: post tit</a:t>
            </a:r>
            <a:r>
              <a:rPr lang="en-US" sz="850">
                <a:solidFill>
                  <a:srgbClr val="444444"/>
                </a:solidFill>
              </a:rPr>
              <a:t>le</a:t>
            </a: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850">
                <a:solidFill>
                  <a:srgbClr val="444444"/>
                </a:solidFill>
              </a:rPr>
              <a:t>business unit</a:t>
            </a:r>
            <a:endParaRPr/>
          </a:p>
        </p:txBody>
      </p:sp>
      <p:sp>
        <p:nvSpPr>
          <p:cNvPr id="598" name="Google Shape;598;p22"/>
          <p:cNvSpPr/>
          <p:nvPr/>
        </p:nvSpPr>
        <p:spPr>
          <a:xfrm>
            <a:off x="2450591" y="2907792"/>
            <a:ext cx="2066543" cy="87782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2450591" y="2907792"/>
            <a:ext cx="2066543" cy="25603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2"/>
          <p:cNvSpPr txBox="1"/>
          <p:nvPr/>
        </p:nvSpPr>
        <p:spPr>
          <a:xfrm>
            <a:off x="2505456" y="2935224"/>
            <a:ext cx="19568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Curriculum Vitae</a:t>
            </a:r>
            <a:endParaRPr/>
          </a:p>
        </p:txBody>
      </p:sp>
      <p:sp>
        <p:nvSpPr>
          <p:cNvPr id="601" name="Google Shape;601;p22"/>
          <p:cNvSpPr txBox="1"/>
          <p:nvPr/>
        </p:nvSpPr>
        <p:spPr>
          <a:xfrm>
            <a:off x="2505456" y="3154680"/>
            <a:ext cx="19568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Employee-Submitted</a:t>
            </a:r>
            <a:endParaRPr/>
          </a:p>
        </p:txBody>
      </p:sp>
      <p:sp>
        <p:nvSpPr>
          <p:cNvPr id="602" name="Google Shape;602;p22"/>
          <p:cNvSpPr txBox="1"/>
          <p:nvPr/>
        </p:nvSpPr>
        <p:spPr>
          <a:xfrm>
            <a:off x="2514599" y="3310128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Skills, qualifications, experience narratives</a:t>
            </a:r>
            <a:r>
              <a:rPr lang="en-US" sz="850">
                <a:solidFill>
                  <a:srgbClr val="444444"/>
                </a:solidFill>
              </a:rPr>
              <a:t> are </a:t>
            </a: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processed </a:t>
            </a:r>
            <a:endParaRPr/>
          </a:p>
        </p:txBody>
      </p:sp>
      <p:sp>
        <p:nvSpPr>
          <p:cNvPr id="603" name="Google Shape;603;p22"/>
          <p:cNvSpPr/>
          <p:nvPr/>
        </p:nvSpPr>
        <p:spPr>
          <a:xfrm>
            <a:off x="4599431" y="2907792"/>
            <a:ext cx="2066543" cy="87782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4599431" y="2907792"/>
            <a:ext cx="2066543" cy="256032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2"/>
          <p:cNvSpPr txBox="1"/>
          <p:nvPr/>
        </p:nvSpPr>
        <p:spPr>
          <a:xfrm>
            <a:off x="4654295" y="2935224"/>
            <a:ext cx="19568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JD Library</a:t>
            </a:r>
            <a:endParaRPr/>
          </a:p>
        </p:txBody>
      </p:sp>
      <p:sp>
        <p:nvSpPr>
          <p:cNvPr id="606" name="Google Shape;606;p22"/>
          <p:cNvSpPr txBox="1"/>
          <p:nvPr/>
        </p:nvSpPr>
        <p:spPr>
          <a:xfrm>
            <a:off x="4654295" y="3154680"/>
            <a:ext cx="19568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Departmental / DPSA</a:t>
            </a:r>
            <a:endParaRPr/>
          </a:p>
        </p:txBody>
      </p:sp>
      <p:sp>
        <p:nvSpPr>
          <p:cNvPr id="607" name="Google Shape;607;p22"/>
          <p:cNvSpPr txBox="1"/>
          <p:nvPr/>
        </p:nvSpPr>
        <p:spPr>
          <a:xfrm>
            <a:off x="4663440" y="3310128"/>
            <a:ext cx="1938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Role requirements, competency profiles &amp;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future-skills benchmarks</a:t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6748271" y="2907792"/>
            <a:ext cx="2066543" cy="877824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C0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6748271" y="2907792"/>
            <a:ext cx="2066543" cy="25603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2"/>
          <p:cNvSpPr txBox="1"/>
          <p:nvPr/>
        </p:nvSpPr>
        <p:spPr>
          <a:xfrm>
            <a:off x="6803135" y="2935224"/>
            <a:ext cx="195681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Benchmarks</a:t>
            </a:r>
            <a:endParaRPr/>
          </a:p>
        </p:txBody>
      </p:sp>
      <p:sp>
        <p:nvSpPr>
          <p:cNvPr id="611" name="Google Shape;611;p22"/>
          <p:cNvSpPr txBox="1"/>
          <p:nvPr/>
        </p:nvSpPr>
        <p:spPr>
          <a:xfrm>
            <a:off x="6803135" y="3154680"/>
            <a:ext cx="1956815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DPSA / DCDF / OFO</a:t>
            </a:r>
            <a:endParaRPr/>
          </a:p>
        </p:txBody>
      </p:sp>
      <p:sp>
        <p:nvSpPr>
          <p:cNvPr id="612" name="Google Shape;612;p22"/>
          <p:cNvSpPr txBox="1"/>
          <p:nvPr/>
        </p:nvSpPr>
        <p:spPr>
          <a:xfrm>
            <a:off x="6812279" y="3310128"/>
            <a:ext cx="1938527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National capability maturity norms,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digital skills standards &amp; sector comparisons</a:t>
            </a:r>
            <a:endParaRPr/>
          </a:p>
        </p:txBody>
      </p:sp>
      <p:sp>
        <p:nvSpPr>
          <p:cNvPr id="613" name="Google Shape;613;p22"/>
          <p:cNvSpPr txBox="1"/>
          <p:nvPr/>
        </p:nvSpPr>
        <p:spPr>
          <a:xfrm>
            <a:off x="301752" y="3866388"/>
            <a:ext cx="8540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DATA PRIVACY ARCHITECTURE — ANONYMISATION PIPELINE</a:t>
            </a:r>
            <a:endParaRPr/>
          </a:p>
        </p:txBody>
      </p:sp>
      <p:sp>
        <p:nvSpPr>
          <p:cNvPr id="614" name="Google Shape;614;p22"/>
          <p:cNvSpPr/>
          <p:nvPr/>
        </p:nvSpPr>
        <p:spPr>
          <a:xfrm>
            <a:off x="301752" y="3858768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365760" y="4114800"/>
            <a:ext cx="987552" cy="987552"/>
          </a:xfrm>
          <a:prstGeom prst="ellipse">
            <a:avLst/>
          </a:prstGeom>
          <a:solidFill>
            <a:srgbClr val="1E3A6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 txBox="1"/>
          <p:nvPr/>
        </p:nvSpPr>
        <p:spPr>
          <a:xfrm>
            <a:off x="365760" y="4206240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17" name="Google Shape;617;p22"/>
          <p:cNvSpPr txBox="1"/>
          <p:nvPr/>
        </p:nvSpPr>
        <p:spPr>
          <a:xfrm>
            <a:off x="274320" y="5301996"/>
            <a:ext cx="117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Receive</a:t>
            </a:r>
            <a:br>
              <a:rPr b="1" i="0" lang="en-US" sz="8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8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/>
          </a:p>
        </p:txBody>
      </p:sp>
      <p:sp>
        <p:nvSpPr>
          <p:cNvPr id="618" name="Google Shape;618;p22"/>
          <p:cNvSpPr txBox="1"/>
          <p:nvPr/>
        </p:nvSpPr>
        <p:spPr>
          <a:xfrm>
            <a:off x="1399032" y="4389120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19" name="Google Shape;619;p22"/>
          <p:cNvSpPr/>
          <p:nvPr/>
        </p:nvSpPr>
        <p:spPr>
          <a:xfrm>
            <a:off x="2532888" y="4114800"/>
            <a:ext cx="987552" cy="987552"/>
          </a:xfrm>
          <a:prstGeom prst="ellipse">
            <a:avLst/>
          </a:prstGeom>
          <a:solidFill>
            <a:srgbClr val="0D7A8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2532888" y="4206240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21" name="Google Shape;621;p22"/>
          <p:cNvSpPr txBox="1"/>
          <p:nvPr/>
        </p:nvSpPr>
        <p:spPr>
          <a:xfrm>
            <a:off x="2441448" y="5332476"/>
            <a:ext cx="117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Strip PII</a:t>
            </a:r>
            <a:endParaRPr/>
          </a:p>
        </p:txBody>
      </p:sp>
      <p:sp>
        <p:nvSpPr>
          <p:cNvPr id="622" name="Google Shape;622;p22"/>
          <p:cNvSpPr txBox="1"/>
          <p:nvPr/>
        </p:nvSpPr>
        <p:spPr>
          <a:xfrm>
            <a:off x="3566160" y="4389120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23" name="Google Shape;623;p22"/>
          <p:cNvSpPr/>
          <p:nvPr/>
        </p:nvSpPr>
        <p:spPr>
          <a:xfrm>
            <a:off x="4700016" y="4114800"/>
            <a:ext cx="987552" cy="987552"/>
          </a:xfrm>
          <a:prstGeom prst="ellipse">
            <a:avLst/>
          </a:prstGeom>
          <a:solidFill>
            <a:srgbClr val="4A6FA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 txBox="1"/>
          <p:nvPr/>
        </p:nvSpPr>
        <p:spPr>
          <a:xfrm>
            <a:off x="4700016" y="4206240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25" name="Google Shape;625;p22"/>
          <p:cNvSpPr txBox="1"/>
          <p:nvPr/>
        </p:nvSpPr>
        <p:spPr>
          <a:xfrm>
            <a:off x="4608576" y="5332476"/>
            <a:ext cx="117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4A6FAB"/>
                </a:solidFill>
                <a:latin typeface="Arial"/>
                <a:ea typeface="Arial"/>
                <a:cs typeface="Arial"/>
                <a:sym typeface="Arial"/>
              </a:rPr>
              <a:t>Pseudonymise</a:t>
            </a:r>
            <a:endParaRPr/>
          </a:p>
        </p:txBody>
      </p:sp>
      <p:sp>
        <p:nvSpPr>
          <p:cNvPr id="626" name="Google Shape;626;p22"/>
          <p:cNvSpPr txBox="1"/>
          <p:nvPr/>
        </p:nvSpPr>
        <p:spPr>
          <a:xfrm>
            <a:off x="5733288" y="4389120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D7A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27" name="Google Shape;627;p22"/>
          <p:cNvSpPr/>
          <p:nvPr/>
        </p:nvSpPr>
        <p:spPr>
          <a:xfrm>
            <a:off x="6867144" y="4114800"/>
            <a:ext cx="987552" cy="987552"/>
          </a:xfrm>
          <a:prstGeom prst="ellipse">
            <a:avLst/>
          </a:prstGeom>
          <a:solidFill>
            <a:srgbClr val="C08A00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 txBox="1"/>
          <p:nvPr/>
        </p:nvSpPr>
        <p:spPr>
          <a:xfrm>
            <a:off x="6867144" y="4206240"/>
            <a:ext cx="987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29" name="Google Shape;629;p22"/>
          <p:cNvSpPr txBox="1"/>
          <p:nvPr/>
        </p:nvSpPr>
        <p:spPr>
          <a:xfrm>
            <a:off x="6775704" y="5332476"/>
            <a:ext cx="117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C08A00"/>
                </a:solidFill>
                <a:latin typeface="Arial"/>
                <a:ea typeface="Arial"/>
                <a:cs typeface="Arial"/>
                <a:sym typeface="Arial"/>
              </a:rPr>
              <a:t>AI Process</a:t>
            </a:r>
            <a:endParaRPr/>
          </a:p>
        </p:txBody>
      </p:sp>
      <p:sp>
        <p:nvSpPr>
          <p:cNvPr id="630" name="Google Shape;630;p22"/>
          <p:cNvSpPr txBox="1"/>
          <p:nvPr/>
        </p:nvSpPr>
        <p:spPr>
          <a:xfrm>
            <a:off x="4046210" y="3861460"/>
            <a:ext cx="3481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COMPLIANCE &amp; GOVERNANCE</a:t>
            </a:r>
            <a:endParaRPr/>
          </a:p>
        </p:txBody>
      </p:sp>
      <p:sp>
        <p:nvSpPr>
          <p:cNvPr id="631" name="Google Shape;631;p22"/>
          <p:cNvSpPr/>
          <p:nvPr/>
        </p:nvSpPr>
        <p:spPr>
          <a:xfrm>
            <a:off x="301752" y="5285232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301752" y="5705856"/>
            <a:ext cx="2066400" cy="621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301752" y="5705856"/>
            <a:ext cx="2066400" cy="2196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 txBox="1"/>
          <p:nvPr/>
        </p:nvSpPr>
        <p:spPr>
          <a:xfrm>
            <a:off x="356616" y="5748528"/>
            <a:ext cx="1956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POPIA Act 4/2013</a:t>
            </a:r>
            <a:endParaRPr/>
          </a:p>
        </p:txBody>
      </p:sp>
      <p:sp>
        <p:nvSpPr>
          <p:cNvPr id="635" name="Google Shape;635;p22"/>
          <p:cNvSpPr txBox="1"/>
          <p:nvPr/>
        </p:nvSpPr>
        <p:spPr>
          <a:xfrm>
            <a:off x="365760" y="6015228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Employee consent &amp;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 subject rights protected</a:t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2450591" y="5698236"/>
            <a:ext cx="2066400" cy="621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2450591" y="5698236"/>
            <a:ext cx="2066400" cy="2196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 txBox="1"/>
          <p:nvPr/>
        </p:nvSpPr>
        <p:spPr>
          <a:xfrm>
            <a:off x="2505456" y="5740908"/>
            <a:ext cx="1956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 27001 Principles</a:t>
            </a:r>
            <a:endParaRPr/>
          </a:p>
        </p:txBody>
      </p:sp>
      <p:sp>
        <p:nvSpPr>
          <p:cNvPr id="639" name="Google Shape;639;p22"/>
          <p:cNvSpPr txBox="1"/>
          <p:nvPr/>
        </p:nvSpPr>
        <p:spPr>
          <a:xfrm>
            <a:off x="2514599" y="6007608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Information security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management aligned</a:t>
            </a:r>
            <a:endParaRPr/>
          </a:p>
        </p:txBody>
      </p:sp>
      <p:sp>
        <p:nvSpPr>
          <p:cNvPr id="640" name="Google Shape;640;p22"/>
          <p:cNvSpPr/>
          <p:nvPr/>
        </p:nvSpPr>
        <p:spPr>
          <a:xfrm>
            <a:off x="4599431" y="5698236"/>
            <a:ext cx="2066400" cy="621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4599431" y="5698236"/>
            <a:ext cx="2066400" cy="219600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 txBox="1"/>
          <p:nvPr/>
        </p:nvSpPr>
        <p:spPr>
          <a:xfrm>
            <a:off x="4654295" y="5740908"/>
            <a:ext cx="1956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DPSA Data Ethics</a:t>
            </a:r>
            <a:endParaRPr/>
          </a:p>
        </p:txBody>
      </p:sp>
      <p:sp>
        <p:nvSpPr>
          <p:cNvPr id="643" name="Google Shape;643;p22"/>
          <p:cNvSpPr txBox="1"/>
          <p:nvPr/>
        </p:nvSpPr>
        <p:spPr>
          <a:xfrm>
            <a:off x="4663440" y="6007608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Responsible AI use &amp;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human oversight maintained</a:t>
            </a:r>
            <a:endParaRPr/>
          </a:p>
        </p:txBody>
      </p:sp>
      <p:sp>
        <p:nvSpPr>
          <p:cNvPr id="644" name="Google Shape;644;p22"/>
          <p:cNvSpPr/>
          <p:nvPr/>
        </p:nvSpPr>
        <p:spPr>
          <a:xfrm>
            <a:off x="6748271" y="5698236"/>
            <a:ext cx="2066400" cy="621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C0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6748271" y="5698236"/>
            <a:ext cx="2066400" cy="219600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6803135" y="5718048"/>
            <a:ext cx="1956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/>
          </a:p>
        </p:txBody>
      </p:sp>
      <p:sp>
        <p:nvSpPr>
          <p:cNvPr id="647" name="Google Shape;647;p22"/>
          <p:cNvSpPr txBox="1"/>
          <p:nvPr/>
        </p:nvSpPr>
        <p:spPr>
          <a:xfrm>
            <a:off x="6812279" y="6007608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Full processing log;</a:t>
            </a:r>
            <a:b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 destroyed post-audit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3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0" y="700000"/>
            <a:ext cx="9144000" cy="5901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Milestone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3"/>
          <p:cNvSpPr txBox="1"/>
          <p:nvPr/>
        </p:nvSpPr>
        <p:spPr>
          <a:xfrm>
            <a:off x="305000" y="1290000"/>
            <a:ext cx="8534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1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FOUR </a:t>
            </a: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milestones COMPLETED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305000" y="1600000"/>
            <a:ext cx="8534000" cy="2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200000" y="1680000"/>
            <a:ext cx="2136000" cy="45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3"/>
          <p:cNvSpPr/>
          <p:nvPr/>
        </p:nvSpPr>
        <p:spPr>
          <a:xfrm>
            <a:off x="200000" y="1680000"/>
            <a:ext cx="2136000" cy="5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3"/>
          <p:cNvSpPr/>
          <p:nvPr/>
        </p:nvSpPr>
        <p:spPr>
          <a:xfrm>
            <a:off x="200000" y="1710000"/>
            <a:ext cx="650400" cy="4599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3"/>
          <p:cNvSpPr txBox="1"/>
          <p:nvPr/>
        </p:nvSpPr>
        <p:spPr>
          <a:xfrm>
            <a:off x="839000" y="1730000"/>
            <a:ext cx="11724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Logical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3"/>
          <p:cNvSpPr/>
          <p:nvPr/>
        </p:nvSpPr>
        <p:spPr>
          <a:xfrm>
            <a:off x="280000" y="2280000"/>
            <a:ext cx="1976000" cy="320000"/>
          </a:xfrm>
          <a:prstGeom prst="rect">
            <a:avLst/>
          </a:prstGeom>
          <a:solidFill>
            <a:srgbClr val="1B6B3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3"/>
          <p:cNvSpPr txBox="1"/>
          <p:nvPr/>
        </p:nvSpPr>
        <p:spPr>
          <a:xfrm>
            <a:off x="280000" y="2640000"/>
            <a:ext cx="197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3"/>
          <p:cNvSpPr txBox="1"/>
          <p:nvPr/>
        </p:nvSpPr>
        <p:spPr>
          <a:xfrm>
            <a:off x="279900" y="3210150"/>
            <a:ext cx="1976100" cy="23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CV anomaly detection &amp; bulk processing engine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Base skills audit report — all branches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Mapping gap resolution &amp; section code integration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Unique section codes enabling hierarchical filtering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664" name="Google Shape;664;p23"/>
          <p:cNvSpPr/>
          <p:nvPr/>
        </p:nvSpPr>
        <p:spPr>
          <a:xfrm>
            <a:off x="2396000" y="1680000"/>
            <a:ext cx="2136000" cy="45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3"/>
          <p:cNvSpPr/>
          <p:nvPr/>
        </p:nvSpPr>
        <p:spPr>
          <a:xfrm>
            <a:off x="2396000" y="1680000"/>
            <a:ext cx="2136000" cy="5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2456000" y="1710000"/>
            <a:ext cx="528900" cy="3600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3"/>
          <p:cNvSpPr txBox="1"/>
          <p:nvPr/>
        </p:nvSpPr>
        <p:spPr>
          <a:xfrm>
            <a:off x="2984900" y="1730000"/>
            <a:ext cx="14772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Audit &amp;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2476000" y="2280000"/>
            <a:ext cx="1976000" cy="320000"/>
          </a:xfrm>
          <a:prstGeom prst="rect">
            <a:avLst/>
          </a:prstGeom>
          <a:solidFill>
            <a:srgbClr val="1B6B3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3"/>
          <p:cNvSpPr txBox="1"/>
          <p:nvPr/>
        </p:nvSpPr>
        <p:spPr>
          <a:xfrm>
            <a:off x="2476000" y="2640000"/>
            <a:ext cx="197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3"/>
          <p:cNvSpPr txBox="1"/>
          <p:nvPr/>
        </p:nvSpPr>
        <p:spPr>
          <a:xfrm>
            <a:off x="2475950" y="3343990"/>
            <a:ext cx="1976100" cy="19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55-post organogram digitised and validated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Advanced readiness report with Three-Way Match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Strategic role benchmarking — local vs. global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4592000" y="1680000"/>
            <a:ext cx="2136000" cy="45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4592000" y="1680000"/>
            <a:ext cx="2136000" cy="5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4652000" y="1710000"/>
            <a:ext cx="528900" cy="3600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3"/>
          <p:cNvSpPr txBox="1"/>
          <p:nvPr/>
        </p:nvSpPr>
        <p:spPr>
          <a:xfrm>
            <a:off x="5281200" y="1730000"/>
            <a:ext cx="13767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Competency Framework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4672000" y="2280000"/>
            <a:ext cx="1976000" cy="320000"/>
          </a:xfrm>
          <a:prstGeom prst="rect">
            <a:avLst/>
          </a:prstGeom>
          <a:solidFill>
            <a:srgbClr val="1B6B3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3"/>
          <p:cNvSpPr txBox="1"/>
          <p:nvPr/>
        </p:nvSpPr>
        <p:spPr>
          <a:xfrm>
            <a:off x="4672000" y="2640000"/>
            <a:ext cx="197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June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3"/>
          <p:cNvSpPr txBox="1"/>
          <p:nvPr/>
        </p:nvSpPr>
        <p:spPr>
          <a:xfrm>
            <a:off x="4592000" y="3338380"/>
            <a:ext cx="1976100" cy="21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Digital Capability Development Framework (DCDF) delivered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lang="en-US" sz="1150">
                <a:solidFill>
                  <a:srgbClr val="444444"/>
                </a:solidFill>
              </a:rPr>
              <a:t>Fully aligned to </a:t>
            </a:r>
            <a:r>
              <a:rPr i="0" lang="en-US" sz="1150" u="none" cap="none" strike="noStrike">
                <a:solidFill>
                  <a:srgbClr val="444444"/>
                </a:solidFill>
              </a:rPr>
              <a:t>DPSA Capability Framework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SFIA 7 (121 skills) + DigComp 2.2 — international standards aligned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6788000" y="1680000"/>
            <a:ext cx="2136000" cy="45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6788000" y="1680000"/>
            <a:ext cx="2136000" cy="5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6848000" y="1710000"/>
            <a:ext cx="528900" cy="3201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3"/>
          <p:cNvSpPr txBox="1"/>
          <p:nvPr/>
        </p:nvSpPr>
        <p:spPr>
          <a:xfrm>
            <a:off x="7376800" y="1730000"/>
            <a:ext cx="14772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Close-Out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3"/>
          <p:cNvSpPr/>
          <p:nvPr/>
        </p:nvSpPr>
        <p:spPr>
          <a:xfrm>
            <a:off x="6868000" y="2280000"/>
            <a:ext cx="1976000" cy="320000"/>
          </a:xfrm>
          <a:prstGeom prst="rect">
            <a:avLst/>
          </a:prstGeom>
          <a:solidFill>
            <a:srgbClr val="1B6B3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3"/>
          <p:cNvSpPr txBox="1"/>
          <p:nvPr/>
        </p:nvSpPr>
        <p:spPr>
          <a:xfrm>
            <a:off x="6868000" y="2640000"/>
            <a:ext cx="1976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20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  Ju</a:t>
            </a:r>
            <a:r>
              <a:rPr b="1" lang="en-US" sz="120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20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3"/>
          <p:cNvSpPr txBox="1"/>
          <p:nvPr/>
        </p:nvSpPr>
        <p:spPr>
          <a:xfrm>
            <a:off x="6788000" y="3300220"/>
            <a:ext cx="1976100" cy="19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Final Executive Close-Out Report &amp; Presentation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Executive presentation to department leadership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Char char="▸"/>
            </a:pPr>
            <a:r>
              <a:rPr i="0" lang="en-US" sz="1150" u="none" cap="none" strike="noStrike">
                <a:solidFill>
                  <a:srgbClr val="444444"/>
                </a:solidFill>
              </a:rPr>
              <a:t>Two -week post-handover support window active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685" name="Google Shape;685;p23"/>
          <p:cNvSpPr txBox="1"/>
          <p:nvPr/>
        </p:nvSpPr>
        <p:spPr>
          <a:xfrm>
            <a:off x="200000" y="6253200"/>
            <a:ext cx="8744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Project Office Close-Off: 2</a:t>
            </a:r>
            <a:r>
              <a:rPr lang="en-US" sz="10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105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 June 2026  |  Two-week post-handover support window till the 3 July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"/>
          <p:cNvSpPr/>
          <p:nvPr/>
        </p:nvSpPr>
        <p:spPr>
          <a:xfrm>
            <a:off x="0" y="0"/>
            <a:ext cx="9144000" cy="70043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4"/>
          <p:cNvSpPr txBox="1"/>
          <p:nvPr/>
        </p:nvSpPr>
        <p:spPr>
          <a:xfrm>
            <a:off x="274320" y="91440"/>
            <a:ext cx="868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b="1" lang="en-US" sz="1050">
                <a:solidFill>
                  <a:srgbClr val="CADCFC"/>
                </a:solidFill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/>
          </a:p>
        </p:txBody>
      </p:sp>
      <p:sp>
        <p:nvSpPr>
          <p:cNvPr id="692" name="Google Shape;692;p24"/>
          <p:cNvSpPr/>
          <p:nvPr/>
        </p:nvSpPr>
        <p:spPr>
          <a:xfrm>
            <a:off x="0" y="700430"/>
            <a:ext cx="9144000" cy="579729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4"/>
          <p:cNvSpPr txBox="1"/>
          <p:nvPr/>
        </p:nvSpPr>
        <p:spPr>
          <a:xfrm>
            <a:off x="2743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This Audit Was Built to Answer</a:t>
            </a:r>
            <a:endParaRPr/>
          </a:p>
        </p:txBody>
      </p:sp>
      <p:sp>
        <p:nvSpPr>
          <p:cNvPr id="694" name="Google Shape;694;p24"/>
          <p:cNvSpPr txBox="1"/>
          <p:nvPr/>
        </p:nvSpPr>
        <p:spPr>
          <a:xfrm>
            <a:off x="301752" y="1307592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Five Strategic Questions</a:t>
            </a:r>
            <a:endParaRPr/>
          </a:p>
        </p:txBody>
      </p:sp>
      <p:sp>
        <p:nvSpPr>
          <p:cNvPr id="695" name="Google Shape;695;p24"/>
          <p:cNvSpPr/>
          <p:nvPr/>
        </p:nvSpPr>
        <p:spPr>
          <a:xfrm>
            <a:off x="301752" y="1600200"/>
            <a:ext cx="8540496" cy="2286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0" y="6490411"/>
            <a:ext cx="9144000" cy="36758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4"/>
          <p:cNvSpPr txBox="1"/>
          <p:nvPr/>
        </p:nvSpPr>
        <p:spPr>
          <a:xfrm>
            <a:off x="274320" y="6519672"/>
            <a:ext cx="8595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lang="en-US" sz="950">
                <a:solidFill>
                  <a:srgbClr val="CADCFC"/>
                </a:solidFill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  <p:sp>
        <p:nvSpPr>
          <p:cNvPr id="698" name="Google Shape;698;p24"/>
          <p:cNvSpPr/>
          <p:nvPr/>
        </p:nvSpPr>
        <p:spPr>
          <a:xfrm>
            <a:off x="301752" y="1719072"/>
            <a:ext cx="8540496" cy="658368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4"/>
          <p:cNvSpPr/>
          <p:nvPr/>
        </p:nvSpPr>
        <p:spPr>
          <a:xfrm>
            <a:off x="301752" y="1719072"/>
            <a:ext cx="502920" cy="658368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4"/>
          <p:cNvSpPr txBox="1"/>
          <p:nvPr/>
        </p:nvSpPr>
        <p:spPr>
          <a:xfrm>
            <a:off x="374904" y="1874519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01" name="Google Shape;701;p24"/>
          <p:cNvSpPr txBox="1"/>
          <p:nvPr/>
        </p:nvSpPr>
        <p:spPr>
          <a:xfrm>
            <a:off x="868680" y="1773936"/>
            <a:ext cx="7882127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Can we trust the data?</a:t>
            </a:r>
            <a:endParaRPr/>
          </a:p>
        </p:txBody>
      </p:sp>
      <p:sp>
        <p:nvSpPr>
          <p:cNvPr id="702" name="Google Shape;702;p24"/>
          <p:cNvSpPr txBox="1"/>
          <p:nvPr/>
        </p:nvSpPr>
        <p:spPr>
          <a:xfrm>
            <a:off x="868680" y="2066543"/>
            <a:ext cx="78821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PERSAL integrity, completeness &amp; PS-SAMF coverage baseline</a:t>
            </a:r>
            <a:endParaRPr/>
          </a:p>
        </p:txBody>
      </p:sp>
      <p:sp>
        <p:nvSpPr>
          <p:cNvPr id="703" name="Google Shape;703;p24"/>
          <p:cNvSpPr/>
          <p:nvPr/>
        </p:nvSpPr>
        <p:spPr>
          <a:xfrm>
            <a:off x="301752" y="2450591"/>
            <a:ext cx="8540496" cy="658368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301752" y="2450591"/>
            <a:ext cx="502920" cy="658368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4"/>
          <p:cNvSpPr txBox="1"/>
          <p:nvPr/>
        </p:nvSpPr>
        <p:spPr>
          <a:xfrm>
            <a:off x="374904" y="2606039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06" name="Google Shape;706;p24"/>
          <p:cNvSpPr txBox="1"/>
          <p:nvPr/>
        </p:nvSpPr>
        <p:spPr>
          <a:xfrm>
            <a:off x="868680" y="2505456"/>
            <a:ext cx="7882127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Where are roles heading?</a:t>
            </a:r>
            <a:endParaRPr/>
          </a:p>
        </p:txBody>
      </p:sp>
      <p:sp>
        <p:nvSpPr>
          <p:cNvPr id="707" name="Google Shape;707;p24"/>
          <p:cNvSpPr txBox="1"/>
          <p:nvPr/>
        </p:nvSpPr>
        <p:spPr>
          <a:xfrm>
            <a:off x="868680" y="2798063"/>
            <a:ext cx="78821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Future skills trajectory aligned to DPSA &amp; DCDF maturity levels</a:t>
            </a:r>
            <a:endParaRPr/>
          </a:p>
        </p:txBody>
      </p:sp>
      <p:sp>
        <p:nvSpPr>
          <p:cNvPr id="708" name="Google Shape;708;p24"/>
          <p:cNvSpPr/>
          <p:nvPr/>
        </p:nvSpPr>
        <p:spPr>
          <a:xfrm>
            <a:off x="301752" y="3182111"/>
            <a:ext cx="8540496" cy="658368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4A6FA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4"/>
          <p:cNvSpPr/>
          <p:nvPr/>
        </p:nvSpPr>
        <p:spPr>
          <a:xfrm>
            <a:off x="301752" y="3182111"/>
            <a:ext cx="502920" cy="658368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4"/>
          <p:cNvSpPr txBox="1"/>
          <p:nvPr/>
        </p:nvSpPr>
        <p:spPr>
          <a:xfrm>
            <a:off x="374904" y="3337559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11" name="Google Shape;711;p24"/>
          <p:cNvSpPr txBox="1"/>
          <p:nvPr/>
        </p:nvSpPr>
        <p:spPr>
          <a:xfrm>
            <a:off x="868680" y="3236975"/>
            <a:ext cx="7882127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What does each person need to build?</a:t>
            </a:r>
            <a:endParaRPr/>
          </a:p>
        </p:txBody>
      </p:sp>
      <p:sp>
        <p:nvSpPr>
          <p:cNvPr id="712" name="Google Shape;712;p24"/>
          <p:cNvSpPr txBox="1"/>
          <p:nvPr/>
        </p:nvSpPr>
        <p:spPr>
          <a:xfrm>
            <a:off x="868680" y="3529583"/>
            <a:ext cx="78821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Individual readiness, skills gaps &amp; development priorities</a:t>
            </a:r>
            <a:endParaRPr/>
          </a:p>
        </p:txBody>
      </p:sp>
      <p:sp>
        <p:nvSpPr>
          <p:cNvPr id="713" name="Google Shape;713;p24"/>
          <p:cNvSpPr/>
          <p:nvPr/>
        </p:nvSpPr>
        <p:spPr>
          <a:xfrm>
            <a:off x="301752" y="3913631"/>
            <a:ext cx="8540496" cy="658368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243F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301752" y="3913631"/>
            <a:ext cx="502920" cy="658368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4"/>
          <p:cNvSpPr txBox="1"/>
          <p:nvPr/>
        </p:nvSpPr>
        <p:spPr>
          <a:xfrm>
            <a:off x="374904" y="4069079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716" name="Google Shape;716;p24"/>
          <p:cNvSpPr txBox="1"/>
          <p:nvPr/>
        </p:nvSpPr>
        <p:spPr>
          <a:xfrm>
            <a:off x="868680" y="3968495"/>
            <a:ext cx="7882127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How ready is each branch?</a:t>
            </a:r>
            <a:endParaRPr/>
          </a:p>
        </p:txBody>
      </p:sp>
      <p:sp>
        <p:nvSpPr>
          <p:cNvPr id="717" name="Google Shape;717;p24"/>
          <p:cNvSpPr txBox="1"/>
          <p:nvPr/>
        </p:nvSpPr>
        <p:spPr>
          <a:xfrm>
            <a:off x="868680" y="4261103"/>
            <a:ext cx="78821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Branch-level capability aggregation &amp; workforce planning view</a:t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>
            <a:off x="301752" y="4645152"/>
            <a:ext cx="8540496" cy="658368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C08A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4"/>
          <p:cNvSpPr/>
          <p:nvPr/>
        </p:nvSpPr>
        <p:spPr>
          <a:xfrm>
            <a:off x="301752" y="4645152"/>
            <a:ext cx="502920" cy="658368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4"/>
          <p:cNvSpPr txBox="1"/>
          <p:nvPr/>
        </p:nvSpPr>
        <p:spPr>
          <a:xfrm>
            <a:off x="374904" y="480060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721" name="Google Shape;721;p24"/>
          <p:cNvSpPr txBox="1"/>
          <p:nvPr/>
        </p:nvSpPr>
        <p:spPr>
          <a:xfrm>
            <a:off x="868680" y="4700016"/>
            <a:ext cx="7882127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Arial"/>
                <a:ea typeface="Arial"/>
                <a:cs typeface="Arial"/>
                <a:sym typeface="Arial"/>
              </a:rPr>
              <a:t>Where do we sit on the national maturity curve?</a:t>
            </a:r>
            <a:endParaRPr/>
          </a:p>
        </p:txBody>
      </p:sp>
      <p:sp>
        <p:nvSpPr>
          <p:cNvPr id="722" name="Google Shape;722;p24"/>
          <p:cNvSpPr txBox="1"/>
          <p:nvPr/>
        </p:nvSpPr>
        <p:spPr>
          <a:xfrm>
            <a:off x="868680" y="4992624"/>
            <a:ext cx="788212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DCDF digital maturity benchmarked against national public service norms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5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5"/>
          <p:cNvSpPr/>
          <p:nvPr/>
        </p:nvSpPr>
        <p:spPr>
          <a:xfrm>
            <a:off x="0" y="700000"/>
            <a:ext cx="9144000" cy="5961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Foundation: Coverage, Quality &amp; PS-SAMF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305000" y="1343500"/>
            <a:ext cx="8534100" cy="201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5"/>
          <p:cNvSpPr/>
          <p:nvPr/>
        </p:nvSpPr>
        <p:spPr>
          <a:xfrm>
            <a:off x="200000" y="1363750"/>
            <a:ext cx="1430100" cy="11964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Staff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PERSAL-verified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1674000" y="1363600"/>
            <a:ext cx="1430100" cy="11964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CVs on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95% of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5"/>
          <p:cNvSpPr/>
          <p:nvPr/>
        </p:nvSpPr>
        <p:spPr>
          <a:xfrm>
            <a:off x="3148000" y="1363600"/>
            <a:ext cx="1430100" cy="11964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Assessments Complete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100% of CVs assessed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4622000" y="1343500"/>
            <a:ext cx="1430100" cy="12165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Branches in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coverage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5"/>
          <p:cNvSpPr/>
          <p:nvPr/>
        </p:nvSpPr>
        <p:spPr>
          <a:xfrm>
            <a:off x="6096000" y="1343500"/>
            <a:ext cx="1430100" cy="12165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Priority 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12-month roadmap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7570000" y="1343500"/>
            <a:ext cx="1430100" cy="1216500"/>
          </a:xfrm>
          <a:prstGeom prst="rect">
            <a:avLst/>
          </a:prstGeom>
          <a:solidFill>
            <a:srgbClr val="1B6B3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Digital Audit Coverage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200000" y="2720000"/>
            <a:ext cx="8744000" cy="6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200000" y="2720000"/>
            <a:ext cx="5408788" cy="60000"/>
          </a:xfrm>
          <a:prstGeom prst="rect">
            <a:avLst/>
          </a:prstGeom>
          <a:solidFill>
            <a:srgbClr val="C47A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5608788" y="2720000"/>
            <a:ext cx="22000" cy="60000"/>
          </a:xfrm>
          <a:prstGeom prst="rect">
            <a:avLst/>
          </a:prstGeom>
          <a:solidFill>
            <a:srgbClr val="B5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5"/>
          <p:cNvSpPr txBox="1"/>
          <p:nvPr/>
        </p:nvSpPr>
        <p:spPr>
          <a:xfrm>
            <a:off x="200000" y="2800000"/>
            <a:ext cx="40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Digital Skills Ready: 43.3%  (current)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5"/>
          <p:cNvSpPr txBox="1"/>
          <p:nvPr/>
        </p:nvSpPr>
        <p:spPr>
          <a:xfrm>
            <a:off x="6200000" y="2800000"/>
            <a:ext cx="2744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52B2B"/>
                </a:solidFill>
                <a:latin typeface="Calibri"/>
                <a:ea typeface="Calibri"/>
                <a:cs typeface="Calibri"/>
                <a:sym typeface="Calibri"/>
              </a:rPr>
              <a:t>Target: 70%  (gap: −26.7 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200000" y="3100000"/>
            <a:ext cx="4299900" cy="33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200000" y="3100000"/>
            <a:ext cx="4300000" cy="55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320000" y="3180000"/>
            <a:ext cx="406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Coverage &amp; Data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5"/>
          <p:cNvSpPr txBox="1"/>
          <p:nvPr/>
        </p:nvSpPr>
        <p:spPr>
          <a:xfrm>
            <a:off x="320000" y="3480000"/>
            <a:ext cx="40599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95% CV Coverage — 674 of 711 staff. Outstanding government benchmark.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100% Assessment Rate — every submitted CV assessed.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746" name="Google Shape;746;p25"/>
          <p:cNvSpPr/>
          <p:nvPr/>
        </p:nvSpPr>
        <p:spPr>
          <a:xfrm>
            <a:off x="4680000" y="3100000"/>
            <a:ext cx="4299900" cy="33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4680000" y="3100000"/>
            <a:ext cx="4300000" cy="55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5"/>
          <p:cNvSpPr txBox="1"/>
          <p:nvPr/>
        </p:nvSpPr>
        <p:spPr>
          <a:xfrm>
            <a:off x="4800000" y="3180000"/>
            <a:ext cx="406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PS-SAMF Signal Snapshot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4800000" y="3480000"/>
            <a:ext cx="3900000" cy="37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4800000" y="3480000"/>
            <a:ext cx="55000" cy="37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5"/>
          <p:cNvSpPr txBox="1"/>
          <p:nvPr/>
        </p:nvSpPr>
        <p:spPr>
          <a:xfrm>
            <a:off x="4875000" y="351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6B3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5"/>
          <p:cNvSpPr txBox="1"/>
          <p:nvPr/>
        </p:nvSpPr>
        <p:spPr>
          <a:xfrm>
            <a:off x="5400000" y="3530000"/>
            <a:ext cx="320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CV Completion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5"/>
          <p:cNvSpPr txBox="1"/>
          <p:nvPr/>
        </p:nvSpPr>
        <p:spPr>
          <a:xfrm>
            <a:off x="5400000" y="3690000"/>
            <a:ext cx="32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94.8%  ·  Target 60%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5"/>
          <p:cNvSpPr/>
          <p:nvPr/>
        </p:nvSpPr>
        <p:spPr>
          <a:xfrm>
            <a:off x="4800000" y="3880000"/>
            <a:ext cx="3900000" cy="37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4800000" y="3880000"/>
            <a:ext cx="55000" cy="37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5"/>
          <p:cNvSpPr txBox="1"/>
          <p:nvPr/>
        </p:nvSpPr>
        <p:spPr>
          <a:xfrm>
            <a:off x="4875000" y="391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6B3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5"/>
          <p:cNvSpPr txBox="1"/>
          <p:nvPr/>
        </p:nvSpPr>
        <p:spPr>
          <a:xfrm>
            <a:off x="5400000" y="3930000"/>
            <a:ext cx="320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JD Coverage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5"/>
          <p:cNvSpPr txBox="1"/>
          <p:nvPr/>
        </p:nvSpPr>
        <p:spPr>
          <a:xfrm>
            <a:off x="5400000" y="4051900"/>
            <a:ext cx="320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%  ·  Target </a:t>
            </a: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4800000" y="4280000"/>
            <a:ext cx="3900000" cy="37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4800000" y="4280000"/>
            <a:ext cx="55000" cy="37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5"/>
          <p:cNvSpPr txBox="1"/>
          <p:nvPr/>
        </p:nvSpPr>
        <p:spPr>
          <a:xfrm>
            <a:off x="4875000" y="431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6B3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5"/>
          <p:cNvSpPr txBox="1"/>
          <p:nvPr/>
        </p:nvSpPr>
        <p:spPr>
          <a:xfrm>
            <a:off x="5400000" y="4330000"/>
            <a:ext cx="320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JD Skills Demand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5"/>
          <p:cNvSpPr txBox="1"/>
          <p:nvPr/>
        </p:nvSpPr>
        <p:spPr>
          <a:xfrm>
            <a:off x="5400000" y="4490000"/>
            <a:ext cx="32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99.8%  ·  Target 40%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5"/>
          <p:cNvSpPr/>
          <p:nvPr/>
        </p:nvSpPr>
        <p:spPr>
          <a:xfrm>
            <a:off x="4800000" y="4680000"/>
            <a:ext cx="3900000" cy="37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5"/>
          <p:cNvSpPr/>
          <p:nvPr/>
        </p:nvSpPr>
        <p:spPr>
          <a:xfrm>
            <a:off x="4800000" y="4680000"/>
            <a:ext cx="55000" cy="37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5"/>
          <p:cNvSpPr txBox="1"/>
          <p:nvPr/>
        </p:nvSpPr>
        <p:spPr>
          <a:xfrm>
            <a:off x="4875000" y="471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B6B3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5"/>
          <p:cNvSpPr txBox="1"/>
          <p:nvPr/>
        </p:nvSpPr>
        <p:spPr>
          <a:xfrm>
            <a:off x="5400000" y="4730000"/>
            <a:ext cx="320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Assessment Coverage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5"/>
          <p:cNvSpPr txBox="1"/>
          <p:nvPr/>
        </p:nvSpPr>
        <p:spPr>
          <a:xfrm>
            <a:off x="5400000" y="4874760"/>
            <a:ext cx="320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100%  ·  Target </a:t>
            </a:r>
            <a:r>
              <a:rPr lang="en-US" sz="11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5"/>
          <p:cNvSpPr/>
          <p:nvPr/>
        </p:nvSpPr>
        <p:spPr>
          <a:xfrm>
            <a:off x="4800000" y="5080000"/>
            <a:ext cx="3900000" cy="37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5"/>
          <p:cNvSpPr/>
          <p:nvPr/>
        </p:nvSpPr>
        <p:spPr>
          <a:xfrm>
            <a:off x="4800000" y="5080000"/>
            <a:ext cx="55000" cy="370000"/>
          </a:xfrm>
          <a:prstGeom prst="rect">
            <a:avLst/>
          </a:prstGeom>
          <a:solidFill>
            <a:srgbClr val="C47A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5"/>
          <p:cNvSpPr txBox="1"/>
          <p:nvPr/>
        </p:nvSpPr>
        <p:spPr>
          <a:xfrm>
            <a:off x="4875000" y="5110000"/>
            <a:ext cx="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5"/>
          <p:cNvSpPr txBox="1"/>
          <p:nvPr/>
        </p:nvSpPr>
        <p:spPr>
          <a:xfrm>
            <a:off x="5400000" y="5130000"/>
            <a:ext cx="3200000" cy="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Digital Skills Ready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5"/>
          <p:cNvSpPr txBox="1"/>
          <p:nvPr/>
        </p:nvSpPr>
        <p:spPr>
          <a:xfrm>
            <a:off x="5400000" y="5290000"/>
            <a:ext cx="32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43.3%  ·  Target 70%  —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5"/>
          <p:cNvSpPr txBox="1"/>
          <p:nvPr/>
        </p:nvSpPr>
        <p:spPr>
          <a:xfrm>
            <a:off x="4800000" y="5520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4 of 5 signals MET  ·  1 gap to close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6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80" name="Google Shape;780;p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6"/>
          <p:cNvSpPr txBox="1"/>
          <p:nvPr/>
        </p:nvSpPr>
        <p:spPr>
          <a:xfrm>
            <a:off x="0" y="18288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0" u="none" cap="none" strike="noStrike">
                <a:solidFill>
                  <a:srgbClr val="2A528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4" name="Google Shape;784;p26"/>
          <p:cNvSpPr/>
          <p:nvPr/>
        </p:nvSpPr>
        <p:spPr>
          <a:xfrm>
            <a:off x="4206240" y="1920240"/>
            <a:ext cx="731520" cy="329184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6"/>
          <p:cNvSpPr txBox="1"/>
          <p:nvPr/>
        </p:nvSpPr>
        <p:spPr>
          <a:xfrm>
            <a:off x="4206240" y="193852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</a:t>
            </a:r>
            <a:endParaRPr/>
          </a:p>
        </p:txBody>
      </p:sp>
      <p:sp>
        <p:nvSpPr>
          <p:cNvPr id="786" name="Google Shape;786;p26"/>
          <p:cNvSpPr txBox="1"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Can we trust the data?</a:t>
            </a:r>
            <a:endParaRPr/>
          </a:p>
        </p:txBody>
      </p:sp>
      <p:sp>
        <p:nvSpPr>
          <p:cNvPr id="787" name="Google Shape;787;p26"/>
          <p:cNvSpPr/>
          <p:nvPr/>
        </p:nvSpPr>
        <p:spPr>
          <a:xfrm>
            <a:off x="3429000" y="3383280"/>
            <a:ext cx="2286000" cy="36576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3429000" y="3511296"/>
            <a:ext cx="2286000" cy="329184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6"/>
          <p:cNvSpPr txBox="1"/>
          <p:nvPr/>
        </p:nvSpPr>
        <p:spPr>
          <a:xfrm>
            <a:off x="3429000" y="35387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Answered  ✓</a:t>
            </a:r>
            <a:endParaRPr/>
          </a:p>
        </p:txBody>
      </p:sp>
      <p:sp>
        <p:nvSpPr>
          <p:cNvPr id="790" name="Google Shape;790;p26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Audit Foundation  ·  Employee Data Integrity Report</a:t>
            </a:r>
            <a:endParaRPr/>
          </a:p>
        </p:txBody>
      </p:sp>
      <p:sp>
        <p:nvSpPr>
          <p:cNvPr id="791" name="Google Shape;791;p26"/>
          <p:cNvSpPr txBox="1"/>
          <p:nvPr/>
        </p:nvSpPr>
        <p:spPr>
          <a:xfrm>
            <a:off x="274320" y="6510528"/>
            <a:ext cx="859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i="1" lang="en-US" sz="800">
                <a:solidFill>
                  <a:srgbClr val="CADCFC"/>
                </a:solidFill>
              </a:rPr>
              <a:t>13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i="1" lang="en-US" sz="800">
                <a:solidFill>
                  <a:srgbClr val="CADCFC"/>
                </a:solidFill>
              </a:rPr>
              <a:t>ly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7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7"/>
          <p:cNvSpPr/>
          <p:nvPr/>
        </p:nvSpPr>
        <p:spPr>
          <a:xfrm>
            <a:off x="0" y="700000"/>
            <a:ext cx="9144000" cy="5800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Employee Data Integrity &amp; Verification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7"/>
          <p:cNvSpPr txBox="1"/>
          <p:nvPr/>
        </p:nvSpPr>
        <p:spPr>
          <a:xfrm>
            <a:off x="305000" y="1290000"/>
            <a:ext cx="8534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-US" sz="1250" u="none" cap="none" strike="noStrike">
                <a:solidFill>
                  <a:srgbClr val="444444"/>
                </a:solidFill>
              </a:rPr>
              <a:t>Audit completeness, anomaly resolution, and human validation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799" name="Google Shape;799;p27"/>
          <p:cNvSpPr/>
          <p:nvPr/>
        </p:nvSpPr>
        <p:spPr>
          <a:xfrm>
            <a:off x="305000" y="1600000"/>
            <a:ext cx="8534000" cy="2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7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7"/>
          <p:cNvSpPr/>
          <p:nvPr/>
        </p:nvSpPr>
        <p:spPr>
          <a:xfrm>
            <a:off x="200000" y="1680000"/>
            <a:ext cx="2800000" cy="438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7"/>
          <p:cNvSpPr/>
          <p:nvPr/>
        </p:nvSpPr>
        <p:spPr>
          <a:xfrm>
            <a:off x="200000" y="1680000"/>
            <a:ext cx="2800000" cy="6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7"/>
          <p:cNvSpPr txBox="1"/>
          <p:nvPr/>
        </p:nvSpPr>
        <p:spPr>
          <a:xfrm>
            <a:off x="300000" y="176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Compliance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7"/>
          <p:cNvSpPr txBox="1"/>
          <p:nvPr/>
        </p:nvSpPr>
        <p:spPr>
          <a:xfrm>
            <a:off x="200000" y="2788500"/>
            <a:ext cx="26001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Final CV coverage: 95% — 674 CVs across 711 established posts.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Automated anomaly detection applied to 100% of submitted CVs.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Flagging criteria: unreadable formats, missing qualifications, placeholder text, duplicates.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90% data compliance rate achieved across all flags raised.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805" name="Google Shape;805;p27"/>
          <p:cNvSpPr/>
          <p:nvPr/>
        </p:nvSpPr>
        <p:spPr>
          <a:xfrm>
            <a:off x="3072000" y="1680000"/>
            <a:ext cx="2800000" cy="438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7"/>
          <p:cNvSpPr/>
          <p:nvPr/>
        </p:nvSpPr>
        <p:spPr>
          <a:xfrm>
            <a:off x="3072000" y="1680000"/>
            <a:ext cx="2800000" cy="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7"/>
          <p:cNvSpPr txBox="1"/>
          <p:nvPr/>
        </p:nvSpPr>
        <p:spPr>
          <a:xfrm>
            <a:off x="3172000" y="176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Data Health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7"/>
          <p:cNvSpPr txBox="1"/>
          <p:nvPr/>
        </p:nvSpPr>
        <p:spPr>
          <a:xfrm>
            <a:off x="3172000" y="2602920"/>
            <a:ext cx="2600100" cy="28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Critical issues resolved: unreadable PDFs, blank sections, scanned-image-only documents.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All resolved submissions re-processed through the assessment engine after correction.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Immutable audit trail maintained for every flag, review, and override decision.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Audit trail available for DPSA review.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809" name="Google Shape;809;p27"/>
          <p:cNvSpPr/>
          <p:nvPr/>
        </p:nvSpPr>
        <p:spPr>
          <a:xfrm>
            <a:off x="5944000" y="1680000"/>
            <a:ext cx="2800000" cy="438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7"/>
          <p:cNvSpPr/>
          <p:nvPr/>
        </p:nvSpPr>
        <p:spPr>
          <a:xfrm>
            <a:off x="5944000" y="1680000"/>
            <a:ext cx="2800000" cy="6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7"/>
          <p:cNvSpPr txBox="1"/>
          <p:nvPr/>
        </p:nvSpPr>
        <p:spPr>
          <a:xfrm>
            <a:off x="6044000" y="176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Human-in-the-Loop Validation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7"/>
          <p:cNvSpPr txBox="1"/>
          <p:nvPr/>
        </p:nvSpPr>
        <p:spPr>
          <a:xfrm>
            <a:off x="6044000" y="2610540"/>
            <a:ext cx="26001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Every automated quality flag reviewed by a Specialist HR Consultant.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Duties listed on CVs recognised as the highest form of demonstrated skill evidence.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No staff member excluded from dataset based solely on automated flags.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▪"/>
            </a:pPr>
            <a:r>
              <a:rPr i="0" lang="en-US" sz="1200" u="none" cap="none" strike="noStrike">
                <a:solidFill>
                  <a:srgbClr val="444444"/>
                </a:solidFill>
              </a:rPr>
              <a:t>Validation log included in the Governance Pack handover.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813" name="Google Shape;813;p27"/>
          <p:cNvSpPr/>
          <p:nvPr/>
        </p:nvSpPr>
        <p:spPr>
          <a:xfrm>
            <a:off x="200000" y="6180000"/>
            <a:ext cx="8744000" cy="28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question answered:  "Can we trust the data?"  Yes — 95% coverage, 9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% data compliance, 100% human-validated flags.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8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19" name="Google Shape;819;p2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8"/>
          <p:cNvSpPr txBox="1"/>
          <p:nvPr/>
        </p:nvSpPr>
        <p:spPr>
          <a:xfrm>
            <a:off x="0" y="18288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0" u="none" cap="none" strike="noStrike">
                <a:solidFill>
                  <a:srgbClr val="2A52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823" name="Google Shape;823;p28"/>
          <p:cNvSpPr/>
          <p:nvPr/>
        </p:nvSpPr>
        <p:spPr>
          <a:xfrm>
            <a:off x="4206240" y="1920240"/>
            <a:ext cx="731520" cy="329184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8"/>
          <p:cNvSpPr txBox="1"/>
          <p:nvPr/>
        </p:nvSpPr>
        <p:spPr>
          <a:xfrm>
            <a:off x="4206240" y="193852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Q2</a:t>
            </a:r>
            <a:endParaRPr/>
          </a:p>
        </p:txBody>
      </p:sp>
      <p:sp>
        <p:nvSpPr>
          <p:cNvPr id="825" name="Google Shape;825;p28"/>
          <p:cNvSpPr txBox="1"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are roles heading?</a:t>
            </a:r>
            <a:endParaRPr/>
          </a:p>
        </p:txBody>
      </p:sp>
      <p:sp>
        <p:nvSpPr>
          <p:cNvPr id="826" name="Google Shape;826;p28"/>
          <p:cNvSpPr/>
          <p:nvPr/>
        </p:nvSpPr>
        <p:spPr>
          <a:xfrm>
            <a:off x="3429000" y="3383280"/>
            <a:ext cx="2286000" cy="36576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3429000" y="3511296"/>
            <a:ext cx="2286000" cy="329184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8"/>
          <p:cNvSpPr txBox="1"/>
          <p:nvPr/>
        </p:nvSpPr>
        <p:spPr>
          <a:xfrm>
            <a:off x="3429000" y="35387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Answered  ✓</a:t>
            </a:r>
            <a:endParaRPr/>
          </a:p>
        </p:txBody>
      </p:sp>
      <p:sp>
        <p:nvSpPr>
          <p:cNvPr id="829" name="Google Shape;829;p28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Future Role Deep Research Report</a:t>
            </a:r>
            <a:endParaRPr/>
          </a:p>
        </p:txBody>
      </p:sp>
      <p:sp>
        <p:nvSpPr>
          <p:cNvPr id="830" name="Google Shape;830;p28"/>
          <p:cNvSpPr txBox="1"/>
          <p:nvPr/>
        </p:nvSpPr>
        <p:spPr>
          <a:xfrm>
            <a:off x="274320" y="6510528"/>
            <a:ext cx="859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i="1" lang="en-US" sz="800">
                <a:solidFill>
                  <a:srgbClr val="CADCFC"/>
                </a:solidFill>
              </a:rPr>
              <a:t>13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i="1" lang="en-US" sz="800">
                <a:solidFill>
                  <a:srgbClr val="CADCFC"/>
                </a:solidFill>
              </a:rPr>
              <a:t>ly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9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9"/>
          <p:cNvSpPr/>
          <p:nvPr/>
        </p:nvSpPr>
        <p:spPr>
          <a:xfrm>
            <a:off x="0" y="700000"/>
            <a:ext cx="9144000" cy="6255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Role Deep Research: Evolution and Strategic Benchmarking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305000" y="1600000"/>
            <a:ext cx="8534000" cy="2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9"/>
          <p:cNvSpPr txBox="1"/>
          <p:nvPr/>
        </p:nvSpPr>
        <p:spPr>
          <a:xfrm>
            <a:off x="175900" y="1549100"/>
            <a:ext cx="8744100" cy="737400"/>
          </a:xfrm>
          <a:prstGeom prst="rect">
            <a:avLst/>
          </a:prstGeom>
          <a:solidFill>
            <a:srgbClr val="E8EDF5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Emerging Technologies Shaping This Department's Future — identified from AI-enriched Job Description analysis across </a:t>
            </a:r>
            <a:endParaRPr b="1" i="0" sz="1300" u="none" cap="none" strike="noStrike">
              <a:solidFill>
                <a:srgbClr val="1E3A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all 6 branches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200000" y="2420000"/>
            <a:ext cx="2085900" cy="3639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200000" y="2366660"/>
            <a:ext cx="2085900" cy="6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9"/>
          <p:cNvSpPr txBox="1"/>
          <p:nvPr/>
        </p:nvSpPr>
        <p:spPr>
          <a:xfrm>
            <a:off x="280000" y="2410940"/>
            <a:ext cx="19260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AI &amp; Generative Automation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"/>
          <p:cNvSpPr txBox="1"/>
          <p:nvPr/>
        </p:nvSpPr>
        <p:spPr>
          <a:xfrm>
            <a:off x="280000" y="2830000"/>
            <a:ext cx="1926000" cy="14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Automated content creation, policy drafting, citizen service interactions, and data summarisation. AI proficiency is currently the largest gap between current capability and -enriched JD demand.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9"/>
          <p:cNvSpPr/>
          <p:nvPr/>
        </p:nvSpPr>
        <p:spPr>
          <a:xfrm>
            <a:off x="2336000" y="2420000"/>
            <a:ext cx="2086000" cy="364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2336000" y="2381900"/>
            <a:ext cx="2085900" cy="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9"/>
          <p:cNvSpPr txBox="1"/>
          <p:nvPr/>
        </p:nvSpPr>
        <p:spPr>
          <a:xfrm>
            <a:off x="2416000" y="2395700"/>
            <a:ext cx="19260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Advanced Data Analytics &amp;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9"/>
          <p:cNvSpPr txBox="1"/>
          <p:nvPr/>
        </p:nvSpPr>
        <p:spPr>
          <a:xfrm>
            <a:off x="2416000" y="2830000"/>
            <a:ext cx="1926000" cy="14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AI-augmented business intelligence enabling automated insight generation, anomaly detection and predictive analytics. Top-2 organisation-wide future skills gap.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4472000" y="2420000"/>
            <a:ext cx="2086000" cy="364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4472000" y="2381900"/>
            <a:ext cx="2085900" cy="6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9"/>
          <p:cNvSpPr txBox="1"/>
          <p:nvPr/>
        </p:nvSpPr>
        <p:spPr>
          <a:xfrm>
            <a:off x="4552000" y="2510000"/>
            <a:ext cx="192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Robotic Process Automation (RPA)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9"/>
          <p:cNvSpPr txBox="1"/>
          <p:nvPr/>
        </p:nvSpPr>
        <p:spPr>
          <a:xfrm>
            <a:off x="4552000" y="2830000"/>
            <a:ext cx="1926000" cy="2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Software automation that eliminates repetitive, rule-based tasks — procurement processing, HR workflows, financial reconciliation, and compliance reporting. Top-3 future skills gap explicitly identified across all AI-enriched Job Descriptions.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6608000" y="2420000"/>
            <a:ext cx="2086000" cy="364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9"/>
          <p:cNvSpPr/>
          <p:nvPr/>
        </p:nvSpPr>
        <p:spPr>
          <a:xfrm>
            <a:off x="6608000" y="2381900"/>
            <a:ext cx="2085900" cy="6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9"/>
          <p:cNvSpPr txBox="1"/>
          <p:nvPr/>
        </p:nvSpPr>
        <p:spPr>
          <a:xfrm>
            <a:off x="6688000" y="2510000"/>
            <a:ext cx="1926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Cybersecurity &amp; Privacy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9"/>
          <p:cNvSpPr txBox="1"/>
          <p:nvPr/>
        </p:nvSpPr>
        <p:spPr>
          <a:xfrm>
            <a:off x="6688000" y="2830000"/>
            <a:ext cx="19260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AI-driven threat detection and POPIA-compliant data handling under MISS 2022 standards.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9"/>
          <p:cNvSpPr/>
          <p:nvPr/>
        </p:nvSpPr>
        <p:spPr>
          <a:xfrm>
            <a:off x="200000" y="6180000"/>
            <a:ext cx="8744000" cy="28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question answered:  "What will our roles look like in 3–5 years?"  The gap between current capability and future skills is documented for each JD.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0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62" name="Google Shape;862;p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0"/>
          <p:cNvSpPr txBox="1"/>
          <p:nvPr/>
        </p:nvSpPr>
        <p:spPr>
          <a:xfrm>
            <a:off x="0" y="18288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0" u="none" cap="none" strike="noStrike">
                <a:solidFill>
                  <a:srgbClr val="2A52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4206240" y="1920240"/>
            <a:ext cx="731520" cy="329184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0"/>
          <p:cNvSpPr txBox="1"/>
          <p:nvPr/>
        </p:nvSpPr>
        <p:spPr>
          <a:xfrm>
            <a:off x="4206240" y="193852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Q3</a:t>
            </a:r>
            <a:endParaRPr/>
          </a:p>
        </p:txBody>
      </p:sp>
      <p:sp>
        <p:nvSpPr>
          <p:cNvPr id="868" name="Google Shape;868;p30"/>
          <p:cNvSpPr txBox="1"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each person need to build?</a:t>
            </a:r>
            <a:endParaRPr/>
          </a:p>
        </p:txBody>
      </p:sp>
      <p:sp>
        <p:nvSpPr>
          <p:cNvPr id="869" name="Google Shape;869;p30"/>
          <p:cNvSpPr/>
          <p:nvPr/>
        </p:nvSpPr>
        <p:spPr>
          <a:xfrm>
            <a:off x="3429000" y="3383280"/>
            <a:ext cx="2286000" cy="36576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3429000" y="3511296"/>
            <a:ext cx="2286000" cy="329184"/>
          </a:xfrm>
          <a:prstGeom prst="rect">
            <a:avLst/>
          </a:prstGeom>
          <a:solidFill>
            <a:srgbClr val="4A6FA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30"/>
          <p:cNvSpPr txBox="1"/>
          <p:nvPr/>
        </p:nvSpPr>
        <p:spPr>
          <a:xfrm>
            <a:off x="3429000" y="35387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Answered  ✓</a:t>
            </a:r>
            <a:endParaRPr/>
          </a:p>
        </p:txBody>
      </p:sp>
      <p:sp>
        <p:nvSpPr>
          <p:cNvPr id="872" name="Google Shape;872;p30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Individual Employee Future Skills Assessment</a:t>
            </a:r>
            <a:endParaRPr/>
          </a:p>
        </p:txBody>
      </p:sp>
      <p:sp>
        <p:nvSpPr>
          <p:cNvPr id="873" name="Google Shape;873;p30"/>
          <p:cNvSpPr txBox="1"/>
          <p:nvPr/>
        </p:nvSpPr>
        <p:spPr>
          <a:xfrm>
            <a:off x="274320" y="6510528"/>
            <a:ext cx="859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i="1" lang="en-US" sz="800">
                <a:solidFill>
                  <a:srgbClr val="CADCFC"/>
                </a:solidFill>
              </a:rPr>
              <a:t>13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i="1" lang="en-US" sz="800">
                <a:solidFill>
                  <a:srgbClr val="CADCFC"/>
                </a:solidFill>
              </a:rPr>
              <a:t>ly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1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1"/>
          <p:cNvSpPr/>
          <p:nvPr/>
        </p:nvSpPr>
        <p:spPr>
          <a:xfrm>
            <a:off x="0" y="700000"/>
            <a:ext cx="9144000" cy="6231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 Employee Future Skills Assessment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1"/>
          <p:cNvSpPr/>
          <p:nvPr/>
        </p:nvSpPr>
        <p:spPr>
          <a:xfrm>
            <a:off x="305000" y="1451500"/>
            <a:ext cx="8534100" cy="201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1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1"/>
          <p:cNvSpPr/>
          <p:nvPr/>
        </p:nvSpPr>
        <p:spPr>
          <a:xfrm>
            <a:off x="200000" y="1542050"/>
            <a:ext cx="2400000" cy="8379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CVs, duties listed, qualifications — what each individual has documented.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1"/>
          <p:cNvSpPr/>
          <p:nvPr/>
        </p:nvSpPr>
        <p:spPr>
          <a:xfrm>
            <a:off x="2610000" y="1880000"/>
            <a:ext cx="80000" cy="2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1"/>
          <p:cNvSpPr/>
          <p:nvPr/>
        </p:nvSpPr>
        <p:spPr>
          <a:xfrm>
            <a:off x="2700000" y="1542100"/>
            <a:ext cx="2400000" cy="837900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55-page organogram and section codes — where each individual sits in the hierarchy.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1"/>
          <p:cNvSpPr/>
          <p:nvPr/>
        </p:nvSpPr>
        <p:spPr>
          <a:xfrm>
            <a:off x="5110000" y="1880000"/>
            <a:ext cx="80000" cy="280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1"/>
          <p:cNvSpPr/>
          <p:nvPr/>
        </p:nvSpPr>
        <p:spPr>
          <a:xfrm>
            <a:off x="5200000" y="1542100"/>
            <a:ext cx="2400000" cy="837900"/>
          </a:xfrm>
          <a:prstGeom prst="rect">
            <a:avLst/>
          </a:prstGeom>
          <a:solidFill>
            <a:srgbClr val="243F7A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DPSA-aligned Job Descriptions — what each role formally requires.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200000" y="2440000"/>
            <a:ext cx="8744100" cy="368100"/>
          </a:xfrm>
          <a:prstGeom prst="rect">
            <a:avLst/>
          </a:prstGeom>
          <a:solidFill>
            <a:srgbClr val="E8EDF5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1"/>
          <p:cNvSpPr/>
          <p:nvPr/>
        </p:nvSpPr>
        <p:spPr>
          <a:xfrm>
            <a:off x="207620" y="2844000"/>
            <a:ext cx="8744100" cy="3279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1"/>
          <p:cNvSpPr/>
          <p:nvPr/>
        </p:nvSpPr>
        <p:spPr>
          <a:xfrm>
            <a:off x="200000" y="2817000"/>
            <a:ext cx="4299900" cy="549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1"/>
          <p:cNvSpPr txBox="1"/>
          <p:nvPr/>
        </p:nvSpPr>
        <p:spPr>
          <a:xfrm>
            <a:off x="320000" y="2937500"/>
            <a:ext cx="405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Future Skills Readiness Assessment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1"/>
          <p:cNvSpPr txBox="1"/>
          <p:nvPr/>
        </p:nvSpPr>
        <p:spPr>
          <a:xfrm>
            <a:off x="320000" y="3414200"/>
            <a:ext cx="6915900" cy="18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674 Employee CVs have been fully assessed for future skills readiness.</a:t>
            </a:r>
            <a:endParaRPr b="0" i="0" sz="1200" u="none" cap="none" strike="noStrike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Each individual employee report is personalised — built from the specific skills, qualifications, and experience extracted from their own CV.</a:t>
            </a:r>
            <a:endParaRPr b="0" i="0" sz="1200" u="none" cap="none" strike="noStrike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Each report provides a structured Individual Development Plan (IDP) with sequenced, role-specific upskilling interventions.</a:t>
            </a:r>
            <a:endParaRPr i="0" sz="1400" u="none" cap="none" strike="noStrike">
              <a:solidFill>
                <a:srgbClr val="000000"/>
              </a:solidFill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Interventions are role-specific — not generic department-wide training.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Examples: Azure cloud fundamentals for ICT staff; SQL and data visualisation.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interventions sequenced within the 12-month WSP cycle.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1"/>
          <p:cNvSpPr/>
          <p:nvPr/>
        </p:nvSpPr>
        <p:spPr>
          <a:xfrm>
            <a:off x="4626660" y="2817000"/>
            <a:ext cx="4299900" cy="549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200000" y="6180000"/>
            <a:ext cx="8744000" cy="28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question answered:  "What future skills does each staff member currently have? What will they need to develop for their role?"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2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99" name="Google Shape;899;p3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2"/>
          <p:cNvSpPr txBox="1"/>
          <p:nvPr/>
        </p:nvSpPr>
        <p:spPr>
          <a:xfrm>
            <a:off x="0" y="18288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0" u="none" cap="none" strike="noStrike">
                <a:solidFill>
                  <a:srgbClr val="2A52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03" name="Google Shape;903;p32"/>
          <p:cNvSpPr/>
          <p:nvPr/>
        </p:nvSpPr>
        <p:spPr>
          <a:xfrm>
            <a:off x="4206240" y="1920240"/>
            <a:ext cx="731520" cy="329184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2"/>
          <p:cNvSpPr txBox="1"/>
          <p:nvPr/>
        </p:nvSpPr>
        <p:spPr>
          <a:xfrm>
            <a:off x="4206240" y="193852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Q4</a:t>
            </a:r>
            <a:endParaRPr/>
          </a:p>
        </p:txBody>
      </p:sp>
      <p:sp>
        <p:nvSpPr>
          <p:cNvPr id="905" name="Google Shape;905;p32"/>
          <p:cNvSpPr txBox="1"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ready is each branch?</a:t>
            </a:r>
            <a:endParaRPr/>
          </a:p>
        </p:txBody>
      </p:sp>
      <p:sp>
        <p:nvSpPr>
          <p:cNvPr id="906" name="Google Shape;906;p32"/>
          <p:cNvSpPr/>
          <p:nvPr/>
        </p:nvSpPr>
        <p:spPr>
          <a:xfrm>
            <a:off x="3429000" y="3383280"/>
            <a:ext cx="2286000" cy="36576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3429000" y="3511296"/>
            <a:ext cx="2286000" cy="329184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2"/>
          <p:cNvSpPr txBox="1"/>
          <p:nvPr/>
        </p:nvSpPr>
        <p:spPr>
          <a:xfrm>
            <a:off x="3429000" y="35387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Answered  ✓</a:t>
            </a:r>
            <a:endParaRPr/>
          </a:p>
        </p:txBody>
      </p:sp>
      <p:sp>
        <p:nvSpPr>
          <p:cNvPr id="909" name="Google Shape;909;p32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Aggregated Workforce Capability Executive Report</a:t>
            </a:r>
            <a:endParaRPr/>
          </a:p>
        </p:txBody>
      </p:sp>
      <p:sp>
        <p:nvSpPr>
          <p:cNvPr id="910" name="Google Shape;910;p32"/>
          <p:cNvSpPr txBox="1"/>
          <p:nvPr/>
        </p:nvSpPr>
        <p:spPr>
          <a:xfrm>
            <a:off x="274320" y="6510528"/>
            <a:ext cx="859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i="1" lang="en-US" sz="800">
                <a:solidFill>
                  <a:srgbClr val="CADCFC"/>
                </a:solidFill>
              </a:rPr>
              <a:t>13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i="1" lang="en-US" sz="800">
                <a:solidFill>
                  <a:srgbClr val="CADCFC"/>
                </a:solidFill>
              </a:rPr>
              <a:t>ly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3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3"/>
          <p:cNvSpPr/>
          <p:nvPr/>
        </p:nvSpPr>
        <p:spPr>
          <a:xfrm>
            <a:off x="0" y="641000"/>
            <a:ext cx="9144000" cy="6999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Aggregated Workforce Capability Executive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3"/>
          <p:cNvSpPr txBox="1"/>
          <p:nvPr/>
        </p:nvSpPr>
        <p:spPr>
          <a:xfrm>
            <a:off x="305000" y="1438500"/>
            <a:ext cx="8534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Organisation-wide readiness score, workforce capability heatmaps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3"/>
          <p:cNvSpPr/>
          <p:nvPr/>
        </p:nvSpPr>
        <p:spPr>
          <a:xfrm>
            <a:off x="305000" y="1762000"/>
            <a:ext cx="8534100" cy="201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3"/>
          <p:cNvSpPr/>
          <p:nvPr/>
        </p:nvSpPr>
        <p:spPr>
          <a:xfrm>
            <a:off x="200000" y="1879500"/>
            <a:ext cx="2000100" cy="27246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/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Digital Audit Coverage 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200000" y="4664000"/>
            <a:ext cx="2000100" cy="5799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All BRANCHES ON 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3"/>
          <p:cNvSpPr txBox="1"/>
          <p:nvPr/>
        </p:nvSpPr>
        <p:spPr>
          <a:xfrm>
            <a:off x="2360000" y="1848400"/>
            <a:ext cx="6584100" cy="489300"/>
          </a:xfrm>
          <a:prstGeom prst="rect">
            <a:avLst/>
          </a:prstGeom>
          <a:solidFill>
            <a:srgbClr val="E8EDF5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Score = CV Coverage (40%) + Assessment Rate (35%) + JD Linkage (25%)</a:t>
            </a:r>
            <a:b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674 of 711 CVs on file  ·  100% of CVs assessed  ·  All CVs assessed against linked JDs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3"/>
          <p:cNvSpPr txBox="1"/>
          <p:nvPr/>
        </p:nvSpPr>
        <p:spPr>
          <a:xfrm>
            <a:off x="2360000" y="2404000"/>
            <a:ext cx="6584100" cy="2769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Branch                              Digital Skills   Composite   PS-SAMF Tier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2360000" y="2724000"/>
            <a:ext cx="6584100" cy="309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7330500" y="2754000"/>
            <a:ext cx="1589400" cy="279900"/>
          </a:xfrm>
          <a:prstGeom prst="rect">
            <a:avLst/>
          </a:prstGeom>
          <a:solidFill>
            <a:srgbClr val="B5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T1 — Digitally Aware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3"/>
          <p:cNvSpPr txBox="1"/>
          <p:nvPr/>
        </p:nvSpPr>
        <p:spPr>
          <a:xfrm>
            <a:off x="2390000" y="2754000"/>
            <a:ext cx="29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CORPORATE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33"/>
          <p:cNvSpPr txBox="1"/>
          <p:nvPr/>
        </p:nvSpPr>
        <p:spPr>
          <a:xfrm>
            <a:off x="5460000" y="2754000"/>
            <a:ext cx="6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32%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2360000" y="3067500"/>
            <a:ext cx="6584100" cy="30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33"/>
          <p:cNvSpPr txBox="1"/>
          <p:nvPr/>
        </p:nvSpPr>
        <p:spPr>
          <a:xfrm>
            <a:off x="2390000" y="3084000"/>
            <a:ext cx="29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33"/>
          <p:cNvSpPr txBox="1"/>
          <p:nvPr/>
        </p:nvSpPr>
        <p:spPr>
          <a:xfrm>
            <a:off x="5460000" y="3084000"/>
            <a:ext cx="6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38%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33"/>
          <p:cNvSpPr/>
          <p:nvPr/>
        </p:nvSpPr>
        <p:spPr>
          <a:xfrm>
            <a:off x="2360000" y="3384000"/>
            <a:ext cx="6584100" cy="309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7330600" y="3414000"/>
            <a:ext cx="1589400" cy="2499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T2 — Developing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3"/>
          <p:cNvSpPr txBox="1"/>
          <p:nvPr/>
        </p:nvSpPr>
        <p:spPr>
          <a:xfrm>
            <a:off x="2390000" y="3414000"/>
            <a:ext cx="29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HUMAN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3"/>
          <p:cNvSpPr txBox="1"/>
          <p:nvPr/>
        </p:nvSpPr>
        <p:spPr>
          <a:xfrm>
            <a:off x="5460000" y="3414000"/>
            <a:ext cx="6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46%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3"/>
          <p:cNvSpPr/>
          <p:nvPr/>
        </p:nvSpPr>
        <p:spPr>
          <a:xfrm>
            <a:off x="2360000" y="3714000"/>
            <a:ext cx="6584100" cy="30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3"/>
          <p:cNvSpPr/>
          <p:nvPr/>
        </p:nvSpPr>
        <p:spPr>
          <a:xfrm>
            <a:off x="7330600" y="3744000"/>
            <a:ext cx="1589400" cy="2499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T2 — Developing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3"/>
          <p:cNvSpPr txBox="1"/>
          <p:nvPr/>
        </p:nvSpPr>
        <p:spPr>
          <a:xfrm>
            <a:off x="2390000" y="3744000"/>
            <a:ext cx="29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ICT SHARED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3"/>
          <p:cNvSpPr txBox="1"/>
          <p:nvPr/>
        </p:nvSpPr>
        <p:spPr>
          <a:xfrm>
            <a:off x="5460000" y="3744000"/>
            <a:ext cx="6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52%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3"/>
          <p:cNvSpPr/>
          <p:nvPr/>
        </p:nvSpPr>
        <p:spPr>
          <a:xfrm>
            <a:off x="2360000" y="4044000"/>
            <a:ext cx="6584100" cy="3099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3"/>
          <p:cNvSpPr/>
          <p:nvPr/>
        </p:nvSpPr>
        <p:spPr>
          <a:xfrm>
            <a:off x="7330600" y="4074000"/>
            <a:ext cx="1589400" cy="309900"/>
          </a:xfrm>
          <a:prstGeom prst="rect">
            <a:avLst/>
          </a:prstGeom>
          <a:solidFill>
            <a:srgbClr val="B5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T1 — Digitally Aware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3"/>
          <p:cNvSpPr txBox="1"/>
          <p:nvPr/>
        </p:nvSpPr>
        <p:spPr>
          <a:xfrm>
            <a:off x="2390000" y="4074000"/>
            <a:ext cx="29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OFFICE OF THE MEC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33"/>
          <p:cNvSpPr txBox="1"/>
          <p:nvPr/>
        </p:nvSpPr>
        <p:spPr>
          <a:xfrm>
            <a:off x="5460000" y="4074000"/>
            <a:ext cx="6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33%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3"/>
          <p:cNvSpPr/>
          <p:nvPr/>
        </p:nvSpPr>
        <p:spPr>
          <a:xfrm>
            <a:off x="2360000" y="4374000"/>
            <a:ext cx="6584100" cy="309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3"/>
          <p:cNvSpPr/>
          <p:nvPr/>
        </p:nvSpPr>
        <p:spPr>
          <a:xfrm>
            <a:off x="7330500" y="4404000"/>
            <a:ext cx="1589400" cy="24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T2 — Developing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3"/>
          <p:cNvSpPr txBox="1"/>
          <p:nvPr/>
        </p:nvSpPr>
        <p:spPr>
          <a:xfrm>
            <a:off x="2390000" y="4404000"/>
            <a:ext cx="290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OFFICE OF THE CFO (Fin. Mgmt)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3"/>
          <p:cNvSpPr txBox="1"/>
          <p:nvPr/>
        </p:nvSpPr>
        <p:spPr>
          <a:xfrm>
            <a:off x="5460000" y="4404000"/>
            <a:ext cx="69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49%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3"/>
          <p:cNvSpPr/>
          <p:nvPr/>
        </p:nvSpPr>
        <p:spPr>
          <a:xfrm>
            <a:off x="200000" y="6091900"/>
            <a:ext cx="8744100" cy="3681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question:  "What is our total readiness?"All  branches ON TRACK.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3"/>
          <p:cNvSpPr/>
          <p:nvPr/>
        </p:nvSpPr>
        <p:spPr>
          <a:xfrm>
            <a:off x="7330500" y="3081900"/>
            <a:ext cx="1620300" cy="279900"/>
          </a:xfrm>
          <a:prstGeom prst="rect">
            <a:avLst/>
          </a:prstGeom>
          <a:solidFill>
            <a:srgbClr val="B52B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T1 — Digitally Aware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4"/>
          <p:cNvSpPr txBox="1"/>
          <p:nvPr>
            <p:ph type="title"/>
          </p:nvPr>
        </p:nvSpPr>
        <p:spPr>
          <a:xfrm>
            <a:off x="1007180" y="935182"/>
            <a:ext cx="8013659" cy="325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54" name="Google Shape;954;p3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4"/>
          <p:cNvSpPr txBox="1"/>
          <p:nvPr/>
        </p:nvSpPr>
        <p:spPr>
          <a:xfrm>
            <a:off x="0" y="18288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0" u="none" cap="none" strike="noStrike">
                <a:solidFill>
                  <a:srgbClr val="2A528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58" name="Google Shape;958;p34"/>
          <p:cNvSpPr/>
          <p:nvPr/>
        </p:nvSpPr>
        <p:spPr>
          <a:xfrm>
            <a:off x="4206240" y="1920240"/>
            <a:ext cx="731520" cy="329184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4"/>
          <p:cNvSpPr txBox="1"/>
          <p:nvPr/>
        </p:nvSpPr>
        <p:spPr>
          <a:xfrm>
            <a:off x="4206240" y="193852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Q5</a:t>
            </a:r>
            <a:endParaRPr/>
          </a:p>
        </p:txBody>
      </p:sp>
      <p:sp>
        <p:nvSpPr>
          <p:cNvPr id="960" name="Google Shape;960;p34"/>
          <p:cNvSpPr txBox="1"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do we sit — on the national maturity curve?</a:t>
            </a:r>
            <a:endParaRPr/>
          </a:p>
        </p:txBody>
      </p:sp>
      <p:sp>
        <p:nvSpPr>
          <p:cNvPr id="961" name="Google Shape;961;p34"/>
          <p:cNvSpPr/>
          <p:nvPr/>
        </p:nvSpPr>
        <p:spPr>
          <a:xfrm>
            <a:off x="3429000" y="3383280"/>
            <a:ext cx="2286000" cy="36576"/>
          </a:xfrm>
          <a:prstGeom prst="rect">
            <a:avLst/>
          </a:prstGeom>
          <a:solidFill>
            <a:srgbClr val="C08A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4"/>
          <p:cNvSpPr/>
          <p:nvPr/>
        </p:nvSpPr>
        <p:spPr>
          <a:xfrm>
            <a:off x="3429000" y="3511296"/>
            <a:ext cx="2286000" cy="329184"/>
          </a:xfrm>
          <a:prstGeom prst="rect">
            <a:avLst/>
          </a:prstGeom>
          <a:solidFill>
            <a:srgbClr val="0D7A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4"/>
          <p:cNvSpPr txBox="1"/>
          <p:nvPr/>
        </p:nvSpPr>
        <p:spPr>
          <a:xfrm>
            <a:off x="3429000" y="35387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Answered  ✓</a:t>
            </a:r>
            <a:endParaRPr/>
          </a:p>
        </p:txBody>
      </p:sp>
      <p:sp>
        <p:nvSpPr>
          <p:cNvPr id="964" name="Google Shape;964;p34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Digital Capability Development Framework (DCDF)</a:t>
            </a:r>
            <a:endParaRPr/>
          </a:p>
        </p:txBody>
      </p:sp>
      <p:sp>
        <p:nvSpPr>
          <p:cNvPr id="965" name="Google Shape;965;p34"/>
          <p:cNvSpPr txBox="1"/>
          <p:nvPr/>
        </p:nvSpPr>
        <p:spPr>
          <a:xfrm>
            <a:off x="274320" y="6510528"/>
            <a:ext cx="859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Gauteng Department of e-Government  |  Executive Close-Out  |  </a:t>
            </a:r>
            <a:r>
              <a:rPr i="1" lang="en-US" sz="800">
                <a:solidFill>
                  <a:srgbClr val="CADCFC"/>
                </a:solidFill>
              </a:rPr>
              <a:t>13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Ju</a:t>
            </a:r>
            <a:r>
              <a:rPr i="1" lang="en-US" sz="800">
                <a:solidFill>
                  <a:srgbClr val="CADCFC"/>
                </a:solidFill>
              </a:rPr>
              <a:t>ly</a:t>
            </a:r>
            <a:r>
              <a:rPr b="0" i="1" lang="en-US" sz="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 2026  |  CONFIDENTIAL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5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5"/>
          <p:cNvSpPr/>
          <p:nvPr/>
        </p:nvSpPr>
        <p:spPr>
          <a:xfrm>
            <a:off x="0" y="700000"/>
            <a:ext cx="9144000" cy="5800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Capability Development Framework (DCDF)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35"/>
          <p:cNvSpPr txBox="1"/>
          <p:nvPr/>
        </p:nvSpPr>
        <p:spPr>
          <a:xfrm>
            <a:off x="305000" y="1290000"/>
            <a:ext cx="8534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PS-SAMF maturity progress, Gold Standard competency matrix, and SFIA 7 / DigComp 2.2 alignment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5"/>
          <p:cNvSpPr/>
          <p:nvPr/>
        </p:nvSpPr>
        <p:spPr>
          <a:xfrm>
            <a:off x="305000" y="1600000"/>
            <a:ext cx="8534000" cy="2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5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5"/>
          <p:cNvSpPr/>
          <p:nvPr/>
        </p:nvSpPr>
        <p:spPr>
          <a:xfrm>
            <a:off x="200000" y="1680000"/>
            <a:ext cx="1923680" cy="48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Rudimentary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Level 1  ·  0–24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5"/>
          <p:cNvSpPr/>
          <p:nvPr/>
        </p:nvSpPr>
        <p:spPr>
          <a:xfrm>
            <a:off x="2123680" y="1680000"/>
            <a:ext cx="2186000" cy="480000"/>
          </a:xfrm>
          <a:prstGeom prst="rect">
            <a:avLst/>
          </a:prstGeom>
          <a:solidFill>
            <a:srgbClr val="C47A1E"/>
          </a:solidFill>
          <a:ln>
            <a:noFill/>
          </a:ln>
          <a:effectLst>
            <a:outerShdw blurRad="38100" rotWithShape="0" dir="5400000" dist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45.3/100  ·  CURRENT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5"/>
          <p:cNvSpPr/>
          <p:nvPr/>
        </p:nvSpPr>
        <p:spPr>
          <a:xfrm>
            <a:off x="4309680" y="1680000"/>
            <a:ext cx="2360880" cy="48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Advanced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Level 3  · 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35"/>
          <p:cNvSpPr/>
          <p:nvPr/>
        </p:nvSpPr>
        <p:spPr>
          <a:xfrm>
            <a:off x="6670560" y="1680000"/>
            <a:ext cx="2273440" cy="48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Level 4  ·  75–100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200000" y="2220000"/>
            <a:ext cx="8744100" cy="489300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C47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▲  The One Signal Holding Us at Developing: Digital Skills Readiness 43.3%  →  need 70% for Advanced  (gap: −26.7 pts)  </a:t>
            </a:r>
            <a:endParaRPr b="1" i="0" sz="1200" u="none" cap="none" strike="noStrike">
              <a:solidFill>
                <a:srgbClr val="7B3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B3F00"/>
                </a:solidFill>
                <a:latin typeface="Calibri"/>
                <a:ea typeface="Calibri"/>
                <a:cs typeface="Calibri"/>
                <a:sym typeface="Calibri"/>
              </a:rPr>
              <a:t>·  All 4 other PS-SAMF signals are MET.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35"/>
          <p:cNvSpPr/>
          <p:nvPr/>
        </p:nvSpPr>
        <p:spPr>
          <a:xfrm>
            <a:off x="200000" y="2620000"/>
            <a:ext cx="8744000" cy="1200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5"/>
          <p:cNvSpPr/>
          <p:nvPr/>
        </p:nvSpPr>
        <p:spPr>
          <a:xfrm>
            <a:off x="200000" y="2633500"/>
            <a:ext cx="5333700" cy="120000"/>
          </a:xfrm>
          <a:prstGeom prst="rect">
            <a:avLst/>
          </a:prstGeom>
          <a:solidFill>
            <a:srgbClr val="C47A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35"/>
          <p:cNvSpPr txBox="1"/>
          <p:nvPr/>
        </p:nvSpPr>
        <p:spPr>
          <a:xfrm>
            <a:off x="200000" y="2840500"/>
            <a:ext cx="4371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Current: 43.3%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35"/>
          <p:cNvSpPr txBox="1"/>
          <p:nvPr/>
        </p:nvSpPr>
        <p:spPr>
          <a:xfrm>
            <a:off x="4572000" y="2800000"/>
            <a:ext cx="4372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47A1E"/>
                </a:solidFill>
                <a:latin typeface="Calibri"/>
                <a:ea typeface="Calibri"/>
                <a:cs typeface="Calibri"/>
                <a:sym typeface="Calibri"/>
              </a:rPr>
              <a:t>Target: 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200000" y="3120000"/>
            <a:ext cx="2800000" cy="32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5"/>
          <p:cNvSpPr/>
          <p:nvPr/>
        </p:nvSpPr>
        <p:spPr>
          <a:xfrm>
            <a:off x="200000" y="3120000"/>
            <a:ext cx="2800000" cy="55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35"/>
          <p:cNvSpPr txBox="1"/>
          <p:nvPr/>
        </p:nvSpPr>
        <p:spPr>
          <a:xfrm>
            <a:off x="300000" y="3200000"/>
            <a:ext cx="26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PS-SAMF Maturity Progress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5"/>
          <p:cNvSpPr txBox="1"/>
          <p:nvPr/>
        </p:nvSpPr>
        <p:spPr>
          <a:xfrm>
            <a:off x="300000" y="3500000"/>
            <a:ext cx="2600000" cy="2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Formal progression from Rudimentary (manual paperwork) to Developing (partial digitisation).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Documented evidence for all five PS-SAMF audit signals achieved.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Advanced maturity achievable within 12 months by closing the Digital Skills Readiness gap.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5"/>
          <p:cNvSpPr/>
          <p:nvPr/>
        </p:nvSpPr>
        <p:spPr>
          <a:xfrm>
            <a:off x="3072000" y="3120000"/>
            <a:ext cx="2800000" cy="32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35"/>
          <p:cNvSpPr/>
          <p:nvPr/>
        </p:nvSpPr>
        <p:spPr>
          <a:xfrm>
            <a:off x="3072000" y="3120000"/>
            <a:ext cx="2800000" cy="55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35"/>
          <p:cNvSpPr txBox="1"/>
          <p:nvPr/>
        </p:nvSpPr>
        <p:spPr>
          <a:xfrm>
            <a:off x="3172000" y="3200000"/>
            <a:ext cx="2600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Gold Standard Competency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35"/>
          <p:cNvSpPr txBox="1"/>
          <p:nvPr/>
        </p:nvSpPr>
        <p:spPr>
          <a:xfrm>
            <a:off x="3172000" y="3986000"/>
            <a:ext cx="26001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Enriched every provided JD  role in the  organisational structure for future required skills.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Fully aligned to DPSA guidelines — validated benchmark for IDPs and future skills development..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5"/>
          <p:cNvSpPr/>
          <p:nvPr/>
        </p:nvSpPr>
        <p:spPr>
          <a:xfrm>
            <a:off x="5944000" y="3120000"/>
            <a:ext cx="2800000" cy="320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5"/>
          <p:cNvSpPr/>
          <p:nvPr/>
        </p:nvSpPr>
        <p:spPr>
          <a:xfrm>
            <a:off x="5944000" y="3120000"/>
            <a:ext cx="2800000" cy="550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5"/>
          <p:cNvSpPr txBox="1"/>
          <p:nvPr/>
        </p:nvSpPr>
        <p:spPr>
          <a:xfrm>
            <a:off x="6044000" y="3200000"/>
            <a:ext cx="26001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International Framework Alignment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5"/>
          <p:cNvSpPr txBox="1"/>
          <p:nvPr/>
        </p:nvSpPr>
        <p:spPr>
          <a:xfrm>
            <a:off x="6044000" y="3891500"/>
            <a:ext cx="26001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SFIA 7 — 121 ICT skills across 7 proficiency levels.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DigComp 2.2 — 5 digital competence areas, 8 proficiency levels.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▪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Both frameworks explicitly referenced by DPSA for ICT and digital literacy benchmarking.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5"/>
          <p:cNvSpPr/>
          <p:nvPr/>
        </p:nvSpPr>
        <p:spPr>
          <a:xfrm>
            <a:off x="200000" y="6180000"/>
            <a:ext cx="8744000" cy="28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question:  "Where does the department sit on the maturity curve?"  Developing (45.3/100). One signal gap remains.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6"/>
          <p:cNvSpPr/>
          <p:nvPr/>
        </p:nvSpPr>
        <p:spPr>
          <a:xfrm>
            <a:off x="0" y="0"/>
            <a:ext cx="9144000" cy="700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b="1"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1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6"/>
          <p:cNvSpPr/>
          <p:nvPr/>
        </p:nvSpPr>
        <p:spPr>
          <a:xfrm>
            <a:off x="0" y="700000"/>
            <a:ext cx="9144000" cy="5901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Closing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6"/>
          <p:cNvSpPr txBox="1"/>
          <p:nvPr/>
        </p:nvSpPr>
        <p:spPr>
          <a:xfrm>
            <a:off x="305000" y="1290000"/>
            <a:ext cx="8534000" cy="3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From evidence to action — the path from Developing to Advanced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305000" y="1600000"/>
            <a:ext cx="8534000" cy="2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6"/>
          <p:cNvSpPr/>
          <p:nvPr/>
        </p:nvSpPr>
        <p:spPr>
          <a:xfrm>
            <a:off x="0" y="6490000"/>
            <a:ext cx="9144000" cy="36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Gauteng Department of e-Government  |  Executive Close-Out  |  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Ju</a:t>
            </a:r>
            <a:r>
              <a:rPr lang="en-US" sz="9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ly</a:t>
            </a: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2026  |  CONFIDENTIAL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6"/>
          <p:cNvSpPr/>
          <p:nvPr/>
        </p:nvSpPr>
        <p:spPr>
          <a:xfrm>
            <a:off x="200000" y="1680000"/>
            <a:ext cx="4322000" cy="23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6"/>
          <p:cNvSpPr/>
          <p:nvPr/>
        </p:nvSpPr>
        <p:spPr>
          <a:xfrm>
            <a:off x="200000" y="1680000"/>
            <a:ext cx="4322000" cy="55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6"/>
          <p:cNvSpPr txBox="1"/>
          <p:nvPr/>
        </p:nvSpPr>
        <p:spPr>
          <a:xfrm>
            <a:off x="300000" y="1760000"/>
            <a:ext cx="4122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Key Findings at a Glance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6"/>
          <p:cNvSpPr txBox="1"/>
          <p:nvPr/>
        </p:nvSpPr>
        <p:spPr>
          <a:xfrm>
            <a:off x="300000" y="2060000"/>
            <a:ext cx="4122000" cy="18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674 of 711 staff assessed — 95% CV coverage, a benchmark-leading result for the South African public service.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87/100 Digital Audit Coverage Score — all six branches ON TRACK on audit infrastructure.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 of 5 PS-SAMF signals MET — Digital Skills Readiness (43.3%) is the one remaining gap.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DCDF Maturity: Developing (45.3/100) — closing the 43.3% to 70% Digital Skills Readiness gap delivers PS-SAMF Advanced within 12 months.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36"/>
          <p:cNvSpPr/>
          <p:nvPr/>
        </p:nvSpPr>
        <p:spPr>
          <a:xfrm>
            <a:off x="4622000" y="1680000"/>
            <a:ext cx="4322000" cy="23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36"/>
          <p:cNvSpPr/>
          <p:nvPr/>
        </p:nvSpPr>
        <p:spPr>
          <a:xfrm>
            <a:off x="4622000" y="1680000"/>
            <a:ext cx="4322000" cy="55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6"/>
          <p:cNvSpPr txBox="1"/>
          <p:nvPr/>
        </p:nvSpPr>
        <p:spPr>
          <a:xfrm>
            <a:off x="4722000" y="1760000"/>
            <a:ext cx="4122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Insights &amp; Reflections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6"/>
          <p:cNvSpPr txBox="1"/>
          <p:nvPr/>
        </p:nvSpPr>
        <p:spPr>
          <a:xfrm>
            <a:off x="4722000" y="2060000"/>
            <a:ext cx="4122000" cy="13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GP eGov now has its first objective, data-driven workforce baseline — decisions are evidence-based.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43.3% digital skills gap is role-traceable — development becomes personalised.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 JDs are now  embedded with required future skills and digital  capability development framework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00000" y="4100000"/>
            <a:ext cx="4322000" cy="23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6"/>
          <p:cNvSpPr/>
          <p:nvPr/>
        </p:nvSpPr>
        <p:spPr>
          <a:xfrm>
            <a:off x="200000" y="4100000"/>
            <a:ext cx="4322000" cy="55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6"/>
          <p:cNvSpPr txBox="1"/>
          <p:nvPr/>
        </p:nvSpPr>
        <p:spPr>
          <a:xfrm>
            <a:off x="300000" y="4180000"/>
            <a:ext cx="4122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Strategic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6"/>
          <p:cNvSpPr txBox="1"/>
          <p:nvPr/>
        </p:nvSpPr>
        <p:spPr>
          <a:xfrm>
            <a:off x="300000" y="4480000"/>
            <a:ext cx="4122000" cy="18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Digital Skills Accelerator — Mandate Cybersecurity &amp; Privacy, AI &amp; Automation, and Advanced Data Analytics training department-wide — the top-3 future skills gaps identified across all AI-enriched JDs.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Constitute a HOD-Chaired Digital Steering Committee with Chief Directors as branch digital change champions.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IMMEDIATE — Integrate all 674 individual Skills Audit Assessment results as a mandatory development objectives for the next performance review cycle.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6"/>
          <p:cNvSpPr/>
          <p:nvPr/>
        </p:nvSpPr>
        <p:spPr>
          <a:xfrm>
            <a:off x="4622000" y="4100000"/>
            <a:ext cx="4322000" cy="2360000"/>
          </a:xfrm>
          <a:prstGeom prst="rect">
            <a:avLst/>
          </a:prstGeom>
          <a:solidFill>
            <a:srgbClr val="F4F6FA"/>
          </a:solidFill>
          <a:ln cap="flat" cmpd="sng" w="9525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6"/>
          <p:cNvSpPr/>
          <p:nvPr/>
        </p:nvSpPr>
        <p:spPr>
          <a:xfrm>
            <a:off x="4622000" y="4100000"/>
            <a:ext cx="4322000" cy="55000"/>
          </a:xfrm>
          <a:prstGeom prst="rect">
            <a:avLst/>
          </a:prstGeom>
          <a:solidFill>
            <a:srgbClr val="243F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6"/>
          <p:cNvSpPr txBox="1"/>
          <p:nvPr/>
        </p:nvSpPr>
        <p:spPr>
          <a:xfrm>
            <a:off x="4722000" y="4180000"/>
            <a:ext cx="4122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E3A6E"/>
                </a:solidFill>
                <a:latin typeface="Calibri"/>
                <a:ea typeface="Calibri"/>
                <a:cs typeface="Calibri"/>
                <a:sym typeface="Calibri"/>
              </a:rPr>
              <a:t>Paving the Way Forward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6"/>
          <p:cNvSpPr txBox="1"/>
          <p:nvPr/>
        </p:nvSpPr>
        <p:spPr>
          <a:xfrm>
            <a:off x="4722000" y="4480000"/>
            <a:ext cx="4122000" cy="21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01625" lvl="0" marL="4572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Deploy a PERSAL-linked online CV submission portal with a standardised template — resolving unreadable CV formats and name-to-establishment mapping gaps observed in this audit cycle, and strengthening the CV Completion Rate signal and efficiency for all future cycles.</a:t>
            </a:r>
            <a:endParaRPr b="0" i="0" sz="1150" u="none" cap="none" strike="noStrike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Closing 43.3% → 70% digital skills readiness is the single action that reaches PS-SAMF Advanced.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rPr b="0" i="0" lang="en-US" sz="115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Embedded role benchmarks mean L&amp;D investment is targeted, personalised, measurable, and outcome-linked.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Char char="▪"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6"/>
          <p:cNvSpPr/>
          <p:nvPr/>
        </p:nvSpPr>
        <p:spPr>
          <a:xfrm>
            <a:off x="200000" y="6460000"/>
            <a:ext cx="8744000" cy="30000"/>
          </a:xfrm>
          <a:prstGeom prst="rect">
            <a:avLst/>
          </a:prstGeom>
          <a:solidFill>
            <a:srgbClr val="0D7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6"/>
          <p:cNvSpPr txBox="1"/>
          <p:nvPr/>
        </p:nvSpPr>
        <p:spPr>
          <a:xfrm>
            <a:off x="200000" y="6460000"/>
            <a:ext cx="87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This audit converts a compliance obligation into a strategic capability — GDeG now holds the evidence, the frameworks, and the governance structures to lead digital transformation across Gauteng Province.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7"/>
          <p:cNvSpPr txBox="1"/>
          <p:nvPr>
            <p:ph type="ctrTitle"/>
          </p:nvPr>
        </p:nvSpPr>
        <p:spPr>
          <a:xfrm>
            <a:off x="712693" y="962741"/>
            <a:ext cx="7772400" cy="177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</a:rPr>
              <a:t>Thank You</a:t>
            </a:r>
            <a:br>
              <a:rPr lang="en-US" sz="2000"/>
            </a:br>
            <a:br>
              <a:rPr lang="en-US" sz="1800"/>
            </a:br>
            <a:r>
              <a:rPr lang="en-US" sz="1800">
                <a:solidFill>
                  <a:srgbClr val="CADCFC"/>
                </a:solidFill>
              </a:rPr>
              <a:t>Yima Yimeka Project Team  </a:t>
            </a:r>
            <a:br>
              <a:rPr lang="en-US" sz="1600"/>
            </a:br>
            <a:r>
              <a:rPr lang="en-US" sz="1600">
                <a:solidFill>
                  <a:srgbClr val="CADCFC"/>
                </a:solidFill>
              </a:rPr>
              <a:t>Building a Capable, Ethical, and Developmental State through Digital Transformation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